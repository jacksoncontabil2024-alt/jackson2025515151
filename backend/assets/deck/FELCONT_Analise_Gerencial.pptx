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339734.2</c:v>
                </c:pt>
                <c:pt idx="2">
                  <c:v>0</c:v>
                </c:pt>
                <c:pt idx="3">
                  <c:v>37796.76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F2F3F8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62445"/>
                        </a:solidFill>
                        <a:latin typeface="Open Sans"/>
                      </a:rPr>
                      <a:t>R$ 366.795,54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62445"/>
                        </a:solidFill>
                        <a:latin typeface="Open Sans"/>
                      </a:rPr>
                      <a:t>R$ 27.061,34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62445"/>
                        </a:solidFill>
                        <a:latin typeface="Open Sans"/>
                      </a:rPr>
                      <a:t>R$ 339.734,20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R$ 301.937,44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62445"/>
                        </a:solidFill>
                        <a:latin typeface="Open Sans"/>
                      </a:rPr>
                      <a:t>R$ 37.796,76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366795.54</c:v>
                </c:pt>
                <c:pt idx="1">
                  <c:v>27061.339999999967</c:v>
                </c:pt>
                <c:pt idx="2">
                  <c:v>339734.2</c:v>
                </c:pt>
                <c:pt idx="3">
                  <c:v>301937.44</c:v>
                </c:pt>
                <c:pt idx="4">
                  <c:v>37796.76</c:v>
                </c:pt>
                <c:pt idx="5">
                  <c:v>37796.76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D6453F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R$ 394.936,02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-R$ 357.139,26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-357139.26</c:v>
                </c:pt>
                <c:pt idx="6">
                  <c:v>-357139.26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  <a:latin typeface="Ope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  <a:latin typeface="Open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E8A13A"/>
              </a:solidFill>
            </c:spPr>
          </c:dPt>
          <c:dPt>
            <c:idx val="2"/>
            <c:spPr>
              <a:solidFill>
                <a:srgbClr val="D6453F"/>
              </a:solidFill>
            </c:spPr>
          </c:dPt>
          <c:cat>
            <c:strRef>
              <c:f>Sheet1!$A$2:$A$4</c:f>
              <c:strCache>
                <c:ptCount val="3"/>
                <c:pt idx="0">
                  <c:v>Receita Líquida</c:v>
                </c:pt>
                <c:pt idx="1">
                  <c:v>Custos</c:v>
                </c:pt>
                <c:pt idx="2">
                  <c:v>Despesas Operacionais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339734.2</c:v>
                </c:pt>
                <c:pt idx="1">
                  <c:v>301937.44</c:v>
                </c:pt>
                <c:pt idx="2">
                  <c:v>394936.02</c:v>
                </c:pt>
              </c:numCache>
            </c:numRef>
          </c:val>
        </c:ser>
        <c:dLbls>
          <c:numFmt formatCode="&quot;R$ &quot;#,##0.00" sourceLinked="0"/>
          <c:txPr>
            <a:bodyPr/>
            <a:lstStyle/>
            <a:p>
              <a:pPr>
                <a:defRPr sz="1000" b="1">
                  <a:solidFill>
                    <a:srgbClr val="262445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5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3E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91440" cy="68580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66760" y="4206240"/>
            <a:ext cx="457200" cy="1005840"/>
          </a:xfrm>
          <a:prstGeom prst="roundRect">
            <a:avLst>
              <a:gd name="adj" fmla="val 18000"/>
            </a:avLst>
          </a:prstGeom>
          <a:solidFill>
            <a:srgbClr val="06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6840" y="3657600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3886200"/>
            <a:ext cx="457200" cy="1325880"/>
          </a:xfrm>
          <a:prstGeom prst="roundRect">
            <a:avLst>
              <a:gd name="adj" fmla="val 18000"/>
            </a:avLst>
          </a:prstGeom>
          <a:solidFill>
            <a:srgbClr val="06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7000" y="3063240"/>
            <a:ext cx="457200" cy="2148840"/>
          </a:xfrm>
          <a:prstGeom prst="roundRect">
            <a:avLst>
              <a:gd name="adj" fmla="val 18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27080" y="2468880"/>
            <a:ext cx="457200" cy="2743200"/>
          </a:xfrm>
          <a:prstGeom prst="roundRect">
            <a:avLst>
              <a:gd name="adj" fmla="val 18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595360" y="3520440"/>
            <a:ext cx="640080" cy="548639"/>
          </a:xfrm>
          <a:prstGeom prst="bentConnector3">
            <a:avLst/>
          </a:prstGeom>
          <a:ln w="28575">
            <a:solidFill>
              <a:srgbClr val="E8A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3520440"/>
            <a:ext cx="640080" cy="228599"/>
          </a:xfrm>
          <a:prstGeom prst="bentConnector3">
            <a:avLst/>
          </a:prstGeom>
          <a:ln w="28575">
            <a:solidFill>
              <a:srgbClr val="E8A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875520" y="2926080"/>
            <a:ext cx="640080" cy="822959"/>
          </a:xfrm>
          <a:prstGeom prst="bentConnector3">
            <a:avLst/>
          </a:prstGeom>
          <a:ln w="28575">
            <a:solidFill>
              <a:srgbClr val="E8A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515600" y="2331720"/>
            <a:ext cx="640080" cy="594360"/>
          </a:xfrm>
          <a:prstGeom prst="bentConnector3">
            <a:avLst/>
          </a:prstGeom>
          <a:ln w="28575">
            <a:solidFill>
              <a:srgbClr val="E8A1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540496" y="40142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0576" y="34655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0656" y="36941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0736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00815" y="22768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8564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2331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4B7AF"/>
                </a:solidFill>
                <a:latin typeface="Open Sans"/>
              </a:rPr>
              <a:t>ANÁLISE GERENCIAL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8920"/>
            <a:ext cx="7315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Roboto"/>
              </a:rPr>
              <a:t>Demonstração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Roboto"/>
              </a:rPr>
              <a:t>Resultado do Exercício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43484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6E86"/>
                </a:solidFill>
                <a:latin typeface="Open Sans"/>
              </a:rPr>
              <a:t>Cliente: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Ronaldo Donadon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6E86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Janeiro a Julho 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Visão Geral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170432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Op.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R$ 366.795,54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Faturamento bruto do período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7304" y="1783080"/>
            <a:ext cx="82296" cy="1170432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3336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(–) Deduções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3336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R$ 27.061,34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336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Impostos e deduções s/ receita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79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79" y="1783080"/>
            <a:ext cx="82296" cy="1170432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3711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3711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R$ 339.734,20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3711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Base operacional líquida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172968"/>
            <a:ext cx="82296" cy="1170432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(–) Custos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R$ 301.937,44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Custos dos serviços/produtos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7304" y="3172968"/>
            <a:ext cx="82296" cy="1170432"/>
          </a:xfrm>
          <a:prstGeom prst="rect">
            <a:avLst/>
          </a:prstGeom>
          <a:solidFill>
            <a:srgbClr val="57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3336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Lucro Bruto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3336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R$ 37.796,76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3336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Receita líquida – custos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7679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7679" y="3172968"/>
            <a:ext cx="82296" cy="1170432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3711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(–) Despesas Operacionais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3711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62445"/>
                </a:solidFill>
                <a:latin typeface="Roboto"/>
              </a:rPr>
              <a:t>R$ 394.936,02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3711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Vendas, adm., financ. e tributárias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81144"/>
            <a:ext cx="11055096" cy="1207008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 w="15875">
            <a:solidFill>
              <a:srgbClr val="D64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581144"/>
            <a:ext cx="128016" cy="1207008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2688" y="4965192"/>
            <a:ext cx="457200" cy="457200"/>
          </a:xfrm>
          <a:prstGeom prst="ellipse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00176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8488" y="480060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6453F"/>
                </a:solidFill>
                <a:latin typeface="Open Sans"/>
              </a:rPr>
              <a:t>RESULTADO LÍQUIDO DO PERÍODO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Prejuízo apurado — exige atenção gerencial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45736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6453F"/>
                </a:solidFill>
                <a:latin typeface="Open Sans"/>
              </a:rPr>
              <a:t>PREJUÍZO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D6453F"/>
                </a:solidFill>
                <a:latin typeface="Roboto"/>
              </a:rPr>
              <a:t>–R$ 357.139,26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Despesas Operacionais incluem Vendas, Administrativas, Financeiras (líquidas) e Tributárias. Fonte: DRE e Balancete do período.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PONTE DO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Cascata: Receita Bruta → Deduções → Receita Líquida → Custos → Lucro Bruto → (–) Despesas Op. → Prejuízo.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COMPARATIVO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Receita x Custos e Despesas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66751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1828800"/>
            <a:ext cx="4114800" cy="3749039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828800"/>
            <a:ext cx="4114800" cy="82296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21488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6453F"/>
                </a:solidFill>
                <a:latin typeface="Open Sans"/>
              </a:rPr>
              <a:t>LEITURA DO GRÁFICO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606040"/>
            <a:ext cx="3520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445"/>
                </a:solidFill>
                <a:latin typeface="Open Sans"/>
              </a:rPr>
              <a:t>A soma de Custos e Despesas </a:t>
            </a:r>
            <a:r>
              <a:rPr sz="1250" b="1">
                <a:solidFill>
                  <a:srgbClr val="D6453F"/>
                </a:solidFill>
                <a:latin typeface="Open Sans"/>
              </a:rPr>
              <a:t>supera em muito </a:t>
            </a:r>
            <a:r>
              <a:rPr sz="1250" b="0">
                <a:solidFill>
                  <a:srgbClr val="262445"/>
                </a:solidFill>
                <a:latin typeface="Open Sans"/>
              </a:rPr>
              <a:t>a Receita Líquida do período.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262445"/>
                </a:solidFill>
                <a:latin typeface="Open Sans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B6E86"/>
                </a:solidFill>
                <a:latin typeface="Open Sans"/>
              </a:rPr>
              <a:t>Custos + Despesas: </a:t>
            </a:r>
            <a:r>
              <a:rPr sz="1100" b="1">
                <a:solidFill>
                  <a:srgbClr val="262445"/>
                </a:solidFill>
                <a:latin typeface="Open Sans"/>
              </a:rPr>
              <a:t>R$ 696.873,46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B6E86"/>
                </a:solidFill>
                <a:latin typeface="Open Sans"/>
              </a:rPr>
              <a:t>Receita Líquida: </a:t>
            </a:r>
            <a:r>
              <a:rPr sz="1100" b="1">
                <a:solidFill>
                  <a:srgbClr val="262445"/>
                </a:solidFill>
                <a:latin typeface="Open Sans"/>
              </a:rPr>
              <a:t>R$ 339.734,20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262445"/>
                </a:solidFill>
                <a:latin typeface="Open Sans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62445"/>
                </a:solidFill>
                <a:latin typeface="Open Sans"/>
              </a:rPr>
              <a:t>Estrutura de gastos incompatível com a geração de receita atual — resultado operacional deficitário.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Valores em R$. Fonte: DRE do período (Jan–Jul/2026).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ALERTA CONTÁBIL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Saldos Invertidos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94960" cy="324612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5394960" cy="91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B6E86"/>
                </a:solidFill>
                <a:latin typeface="Open Sans"/>
              </a:rPr>
              <a:t>CONTA </a:t>
            </a:r>
            <a:r>
              <a:rPr sz="1300" b="1">
                <a:solidFill>
                  <a:srgbClr val="E8A13A"/>
                </a:solidFill>
                <a:latin typeface="Open Sans"/>
              </a:rPr>
              <a:t>140</a:t>
            </a:r>
            <a:r>
              <a:rPr sz="1300" b="1">
                <a:solidFill>
                  <a:srgbClr val="6B6E86"/>
                </a:solidFill>
                <a:latin typeface="Open Sans"/>
              </a:rPr>
              <a:t>  ·  </a:t>
            </a:r>
            <a:r>
              <a:rPr sz="1300" b="1">
                <a:solidFill>
                  <a:srgbClr val="262445"/>
                </a:solidFill>
                <a:latin typeface="Open Sans"/>
              </a:rPr>
              <a:t>Clientes (grupo)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Saldo invertido (sintética)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8A13A"/>
                </a:solidFill>
                <a:latin typeface="Roboto"/>
              </a:rPr>
              <a:t>R$ 1.123.648,52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118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E86"/>
                </a:solidFill>
                <a:latin typeface="Open Sans"/>
              </a:rPr>
              <a:t>Grupo: </a:t>
            </a:r>
            <a:r>
              <a:rPr sz="1000" b="1">
                <a:solidFill>
                  <a:srgbClr val="262445"/>
                </a:solidFill>
                <a:latin typeface="Open Sans"/>
              </a:rPr>
              <a:t>ATIVO</a:t>
            </a:r>
            <a:r>
              <a:rPr sz="1000" b="1">
                <a:solidFill>
                  <a:srgbClr val="6B6E86"/>
                </a:solidFill>
                <a:latin typeface="Open Sans"/>
              </a:rPr>
              <a:t>   |   Natureza esperada: </a:t>
            </a:r>
            <a:r>
              <a:rPr sz="1000" b="1">
                <a:solidFill>
                  <a:srgbClr val="262445"/>
                </a:solidFill>
                <a:latin typeface="Open Sans"/>
              </a:rPr>
              <a:t>devedora</a:t>
            </a:r>
            <a:r>
              <a:rPr sz="1000" b="1">
                <a:solidFill>
                  <a:srgbClr val="6B6E86"/>
                </a:solidFill>
                <a:latin typeface="Open Sans"/>
              </a:rPr>
              <a:t>   |   Apresentada: </a:t>
            </a:r>
            <a:r>
              <a:rPr sz="1000" b="1">
                <a:solidFill>
                  <a:srgbClr val="D6453F"/>
                </a:solidFill>
                <a:latin typeface="Open Sans"/>
              </a:rPr>
              <a:t>credora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23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62445"/>
                </a:solidFill>
                <a:latin typeface="Open Sans"/>
              </a:rPr>
              <a:t>Conta de Ativo com natureza normalmente devedora apresentando saldo credor.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28800"/>
            <a:ext cx="5394960" cy="324612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828800"/>
            <a:ext cx="5394960" cy="914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148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B6E86"/>
                </a:solidFill>
                <a:latin typeface="Open Sans"/>
              </a:rPr>
              <a:t>CONTA </a:t>
            </a:r>
            <a:r>
              <a:rPr sz="1300" b="1">
                <a:solidFill>
                  <a:srgbClr val="E8A13A"/>
                </a:solidFill>
                <a:latin typeface="Open Sans"/>
              </a:rPr>
              <a:t>1494</a:t>
            </a:r>
            <a:r>
              <a:rPr sz="1300" b="1">
                <a:solidFill>
                  <a:srgbClr val="6B6E86"/>
                </a:solidFill>
                <a:latin typeface="Open Sans"/>
              </a:rPr>
              <a:t>  ·  </a:t>
            </a:r>
            <a:r>
              <a:rPr sz="1300" b="1">
                <a:solidFill>
                  <a:srgbClr val="262445"/>
                </a:solidFill>
                <a:latin typeface="Open Sans"/>
              </a:rPr>
              <a:t>Fornecedores (grupo)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Saldo invertido (sintética)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29077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8A13A"/>
                </a:solidFill>
                <a:latin typeface="Roboto"/>
              </a:rPr>
              <a:t>R$ 441.904,06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6118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6E86"/>
                </a:solidFill>
                <a:latin typeface="Open Sans"/>
              </a:rPr>
              <a:t>Grupo: </a:t>
            </a:r>
            <a:r>
              <a:rPr sz="1000" b="1">
                <a:solidFill>
                  <a:srgbClr val="262445"/>
                </a:solidFill>
                <a:latin typeface="Open Sans"/>
              </a:rPr>
              <a:t>PASSIVO</a:t>
            </a:r>
            <a:r>
              <a:rPr sz="1000" b="1">
                <a:solidFill>
                  <a:srgbClr val="6B6E86"/>
                </a:solidFill>
                <a:latin typeface="Open Sans"/>
              </a:rPr>
              <a:t>   |   Natureza esperada: </a:t>
            </a:r>
            <a:r>
              <a:rPr sz="1000" b="1">
                <a:solidFill>
                  <a:srgbClr val="262445"/>
                </a:solidFill>
                <a:latin typeface="Open Sans"/>
              </a:rPr>
              <a:t>credora</a:t>
            </a:r>
            <a:r>
              <a:rPr sz="1000" b="1">
                <a:solidFill>
                  <a:srgbClr val="6B6E86"/>
                </a:solidFill>
                <a:latin typeface="Open Sans"/>
              </a:rPr>
              <a:t>   |   Apresentada: </a:t>
            </a:r>
            <a:r>
              <a:rPr sz="1000" b="1">
                <a:solidFill>
                  <a:srgbClr val="D6453F"/>
                </a:solidFill>
                <a:latin typeface="Open Sans"/>
              </a:rPr>
              <a:t>devedora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4023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62445"/>
                </a:solidFill>
                <a:latin typeface="Open Sans"/>
              </a:rPr>
              <a:t>Conta de Passivo com natureza normalmente credora apresentando saldo devedor.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5650992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565099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Open Sans"/>
              </a:rPr>
              <a:t>⚑  NECESSIDADE DE CONCILIAÇÃO IMEDIATA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140 e 1494 são contas sintéticas (grupo). Saldo invertido é indício que exige conciliação — não constitui, por si, prova de irregularidade.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INTERPRETAÇÃO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O que os saldos podem indicar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4B7AF"/>
                </a:solidFill>
                <a:latin typeface="Open Sans"/>
              </a:rPr>
              <a:t>COMPRA</a:t>
            </a:r>
          </a:p>
        </p:txBody>
      </p:sp>
      <p:sp>
        <p:nvSpPr>
          <p:cNvPr id="9" name="Chevron 8"/>
          <p:cNvSpPr/>
          <p:nvPr/>
        </p:nvSpPr>
        <p:spPr>
          <a:xfrm>
            <a:off x="2377440" y="1920240"/>
            <a:ext cx="2743200" cy="566928"/>
          </a:xfrm>
          <a:prstGeom prst="chevron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Open Sans"/>
              </a:rPr>
              <a:t>Documento fiscal (NF)</a:t>
            </a:r>
          </a:p>
        </p:txBody>
      </p:sp>
      <p:sp>
        <p:nvSpPr>
          <p:cNvPr id="11" name="Chevron 10"/>
          <p:cNvSpPr/>
          <p:nvPr/>
        </p:nvSpPr>
        <p:spPr>
          <a:xfrm>
            <a:off x="5257800" y="1920240"/>
            <a:ext cx="2743200" cy="566928"/>
          </a:xfrm>
          <a:prstGeom prst="chevron">
            <a:avLst/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62445"/>
                </a:solidFill>
                <a:latin typeface="Open Sans"/>
              </a:rPr>
              <a:t>Lançamento contábil</a:t>
            </a:r>
          </a:p>
        </p:txBody>
      </p:sp>
      <p:sp>
        <p:nvSpPr>
          <p:cNvPr id="13" name="Chevron 12"/>
          <p:cNvSpPr/>
          <p:nvPr/>
        </p:nvSpPr>
        <p:spPr>
          <a:xfrm>
            <a:off x="8138160" y="1920240"/>
            <a:ext cx="2743200" cy="566928"/>
          </a:xfrm>
          <a:prstGeom prst="chevron">
            <a:avLst/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62445"/>
                </a:solidFill>
                <a:latin typeface="Open Sans"/>
              </a:rPr>
              <a:t>Financeiro (pagar)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432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7B14A"/>
                </a:solidFill>
                <a:latin typeface="Open Sans"/>
              </a:rPr>
              <a:t>VENDA</a:t>
            </a:r>
          </a:p>
        </p:txBody>
      </p:sp>
      <p:sp>
        <p:nvSpPr>
          <p:cNvPr id="16" name="Chevron 15"/>
          <p:cNvSpPr/>
          <p:nvPr/>
        </p:nvSpPr>
        <p:spPr>
          <a:xfrm>
            <a:off x="2377440" y="2743200"/>
            <a:ext cx="2743200" cy="566928"/>
          </a:xfrm>
          <a:prstGeom prst="chevron">
            <a:avLst/>
          </a:prstGeom>
          <a:solidFill>
            <a:srgbClr val="57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Open Sans"/>
              </a:rPr>
              <a:t>Documento fiscal (NF)</a:t>
            </a:r>
          </a:p>
        </p:txBody>
      </p:sp>
      <p:sp>
        <p:nvSpPr>
          <p:cNvPr id="18" name="Chevron 17"/>
          <p:cNvSpPr/>
          <p:nvPr/>
        </p:nvSpPr>
        <p:spPr>
          <a:xfrm>
            <a:off x="5257800" y="2743200"/>
            <a:ext cx="2743200" cy="566928"/>
          </a:xfrm>
          <a:prstGeom prst="chevron">
            <a:avLst/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62445"/>
                </a:solidFill>
                <a:latin typeface="Open Sans"/>
              </a:rPr>
              <a:t>Lançamento contábil</a:t>
            </a:r>
          </a:p>
        </p:txBody>
      </p:sp>
      <p:sp>
        <p:nvSpPr>
          <p:cNvPr id="20" name="Chevron 19"/>
          <p:cNvSpPr/>
          <p:nvPr/>
        </p:nvSpPr>
        <p:spPr>
          <a:xfrm>
            <a:off x="8138160" y="2743200"/>
            <a:ext cx="2743200" cy="566928"/>
          </a:xfrm>
          <a:prstGeom prst="chevron">
            <a:avLst/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62445"/>
                </a:solidFill>
                <a:latin typeface="Open Sans"/>
              </a:rPr>
              <a:t>Financeiro (receber)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4290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Quando o ciclo documento → lançamento → financeiro não fecha, o saldo pode inverter.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77639"/>
            <a:ext cx="11055096" cy="2148840"/>
          </a:xfrm>
          <a:prstGeom prst="roundRect">
            <a:avLst>
              <a:gd name="adj" fmla="val 4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977639"/>
            <a:ext cx="82296" cy="214884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A13A"/>
                </a:solidFill>
                <a:latin typeface="Open Sans"/>
              </a:rPr>
              <a:t>POSSÍVEIS CAUSAS A INVESTIGAR (hipóteses, não conclusões)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626864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572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Recebimentos/pagamentos lançados sem o respectivo título de origem.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102351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Baixas em duplicidade ou baixa superior ao valor original do título.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577840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5522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Notas fiscais não escrituradas ou escrituradas em conta indevida.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4626864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4572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Adiantamentos de clientes/a fornecedores registrados no grupo errado.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5102351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Diferenças de conciliação bancária não tratadas.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5577840"/>
            <a:ext cx="109728" cy="109728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5522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62445"/>
                </a:solidFill>
                <a:latin typeface="Open Sans"/>
              </a:rPr>
              <a:t>Erros de classificação entre contas do mesmo grupo sintético.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Hipóteses apresentadas apenas como direcionadores da conciliação. Confirmação depende da análise documental.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Principais 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109728" cy="1783080"/>
          </a:xfrm>
          <a:prstGeom prst="rect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121408"/>
            <a:ext cx="502920" cy="502920"/>
          </a:xfrm>
          <a:prstGeom prst="ellipse">
            <a:avLst/>
          </a:prstGeom>
          <a:solidFill>
            <a:srgbClr val="D6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3969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84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6453F"/>
                </a:solidFill>
                <a:latin typeface="Open Sans"/>
              </a:rPr>
              <a:t>PREJUÍZO NO PERÍODO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957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62445"/>
                </a:solidFill>
                <a:latin typeface="Roboto"/>
              </a:rPr>
              <a:t>–R$ 357.139,26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52928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Resultado líquido negativo; estrutura de custos e despesas acima da receita.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288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828800"/>
            <a:ext cx="109728" cy="178308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47104" y="2121408"/>
            <a:ext cx="502920" cy="502920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3969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084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A13A"/>
                </a:solidFill>
                <a:latin typeface="Open Sans"/>
              </a:rPr>
              <a:t>CLIENTE COM SALDO INVERTIDO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3957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62445"/>
                </a:solidFill>
                <a:latin typeface="Roboto"/>
              </a:rPr>
              <a:t>R$ 1.123.648,52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2852928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Conta 140 (grupo) apresenta saldo credor — natureza contábil incompatível.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6791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67912"/>
            <a:ext cx="109728" cy="1783080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4160520"/>
            <a:ext cx="502920" cy="502920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1239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A13A"/>
                </a:solidFill>
                <a:latin typeface="Open Sans"/>
              </a:rPr>
              <a:t>FORNECEDOR COM SALDO INVERTIDO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62445"/>
                </a:solidFill>
                <a:latin typeface="Roboto"/>
              </a:rPr>
              <a:t>R$ 441.904,06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9204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Conta 1494 (grupo) apresenta saldo devedor — natureza contábil incompatível.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86791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E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3867912"/>
            <a:ext cx="109728" cy="178308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4160520"/>
            <a:ext cx="502920" cy="502920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41239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4B7AF"/>
                </a:solidFill>
                <a:latin typeface="Open Sans"/>
              </a:rPr>
              <a:t>CONCILIAÇÃO NECESSÁRIA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62445"/>
                </a:solidFill>
                <a:latin typeface="Roboto"/>
              </a:rPr>
              <a:t>Prioridade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489204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Saldos exigem conciliação e reprocessamento antes de qualquer decisão gerencial.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E86"/>
                </a:solidFill>
                <a:latin typeface="Open Sans"/>
              </a:rPr>
              <a:t>Pontos de atenção descritos em linguagem técnica, sem juízo de irregularidade. Fonte: DRE e Balancete.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62445"/>
                </a:solidFill>
                <a:latin typeface="Roboto"/>
              </a:rPr>
              <a:t>Plano de Ação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246120"/>
            <a:ext cx="10561320" cy="2743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4617720"/>
            <a:ext cx="10561320" cy="2743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7340" y="30129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7340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8308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Levantar documentação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Reunir NFs, extratos e títulos do período.</a:t>
            </a:r>
          </a:p>
        </p:txBody>
      </p:sp>
      <p:sp>
        <p:nvSpPr>
          <p:cNvPr id="16" name="Oval 15"/>
          <p:cNvSpPr/>
          <p:nvPr/>
        </p:nvSpPr>
        <p:spPr>
          <a:xfrm>
            <a:off x="4424172" y="30129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4172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3760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3760" y="178308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4928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Conciliar Clientes (140)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928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Cruzar títulos a receber com baixas e recebimentos.</a:t>
            </a:r>
          </a:p>
        </p:txBody>
      </p:sp>
      <p:sp>
        <p:nvSpPr>
          <p:cNvPr id="22" name="Oval 21"/>
          <p:cNvSpPr/>
          <p:nvPr/>
        </p:nvSpPr>
        <p:spPr>
          <a:xfrm>
            <a:off x="7271004" y="30129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1004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0592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0592" y="178308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760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Conciliar Fornecedores (1494)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760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Cruzar títulos a pagar com baixas e pagamentos.</a:t>
            </a:r>
          </a:p>
        </p:txBody>
      </p:sp>
      <p:sp>
        <p:nvSpPr>
          <p:cNvPr id="28" name="Oval 27"/>
          <p:cNvSpPr/>
          <p:nvPr/>
        </p:nvSpPr>
        <p:spPr>
          <a:xfrm>
            <a:off x="10117836" y="30129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7836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178308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Revisar lançamentos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Identificar baixas em duplicidade e classificações.</a:t>
            </a:r>
          </a:p>
        </p:txBody>
      </p:sp>
      <p:sp>
        <p:nvSpPr>
          <p:cNvPr id="34" name="Oval 33"/>
          <p:cNvSpPr/>
          <p:nvPr/>
        </p:nvSpPr>
        <p:spPr>
          <a:xfrm>
            <a:off x="1577340" y="43845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7340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89204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Conciliação bancária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Ajustar diferenças de caixa e bancos.</a:t>
            </a:r>
          </a:p>
        </p:txBody>
      </p:sp>
      <p:sp>
        <p:nvSpPr>
          <p:cNvPr id="40" name="Oval 39"/>
          <p:cNvSpPr/>
          <p:nvPr/>
        </p:nvSpPr>
        <p:spPr>
          <a:xfrm>
            <a:off x="4424172" y="43845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4172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3760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13760" y="489204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4928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Corrigir e ajustar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4928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Efetuar os lançamentos de acerto necessários.</a:t>
            </a:r>
          </a:p>
        </p:txBody>
      </p:sp>
      <p:sp>
        <p:nvSpPr>
          <p:cNvPr id="46" name="Oval 45"/>
          <p:cNvSpPr/>
          <p:nvPr/>
        </p:nvSpPr>
        <p:spPr>
          <a:xfrm>
            <a:off x="7271004" y="43845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1004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0592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0592" y="489204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1760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Reprocessar o resultado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1760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Reapurar DRE após as correções.</a:t>
            </a:r>
          </a:p>
        </p:txBody>
      </p:sp>
      <p:sp>
        <p:nvSpPr>
          <p:cNvPr id="52" name="Oval 51"/>
          <p:cNvSpPr/>
          <p:nvPr/>
        </p:nvSpPr>
        <p:spPr>
          <a:xfrm>
            <a:off x="10117836" y="4384548"/>
            <a:ext cx="493776" cy="493776"/>
          </a:xfrm>
          <a:prstGeom prst="ellipse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17836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7424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07424" y="4892040"/>
            <a:ext cx="2514600" cy="64008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08592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Validar e reportar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08592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62445"/>
                </a:solidFill>
                <a:latin typeface="Open Sans"/>
              </a:rPr>
              <a:t>Confirmar saldos e emitir relatório gerencial.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6172200"/>
            <a:ext cx="11055096" cy="457200"/>
          </a:xfrm>
          <a:prstGeom prst="roundRect">
            <a:avLst>
              <a:gd name="adj" fmla="val 4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172200"/>
            <a:ext cx="110550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FEFFB"/>
                </a:solidFill>
                <a:latin typeface="Open Sans"/>
              </a:rPr>
              <a:t>Mensagem-chave:  </a:t>
            </a:r>
            <a:r>
              <a:rPr sz="1200" b="0">
                <a:solidFill>
                  <a:srgbClr val="FFFFFF"/>
                </a:solidFill>
                <a:latin typeface="Open Sans"/>
              </a:rPr>
              <a:t>o resultado só deve ser lido para decisão APÓS a conciliação e o reprocessamento.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651760" cy="8278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 /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Roboto"/>
              </a:rPr>
              <a:t>Do diagnóstico à decisão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Cruzar documentos e saldos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3794760"/>
            <a:ext cx="292608" cy="256032"/>
          </a:xfrm>
          <a:prstGeom prst="rightArrow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Ajustar lançamentos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7" y="3794760"/>
            <a:ext cx="292608" cy="256032"/>
          </a:xfrm>
          <a:prstGeom prst="rightArrow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Reprocessar e conferir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7" y="3794760"/>
            <a:ext cx="292608" cy="256032"/>
          </a:xfrm>
          <a:prstGeom prst="rightArrow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Decidir com dados confiáveis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07492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“Informação contábil transformada em decisão.”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6E86"/>
                </a:solidFill>
                <a:latin typeface="Open Sans"/>
              </a:rPr>
              <a:t>Análise gerencial · Cliente: Ronaldo Donadon · Período Jan–Jul/2026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