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4B7AF"/>
                </a:solidFill>
                <a:latin typeface="Open Sans"/>
              </a:rPr>
              <a:t>PRINCIPAIS NÚMEROS DO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262445"/>
                </a:solidFill>
                <a:latin typeface="Roboto"/>
              </a:rPr>
              <a:t>Visão Executiva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463040"/>
            <a:ext cx="1097280" cy="54864"/>
          </a:xfrm>
          <a:prstGeom prst="rect">
            <a:avLst/>
          </a:prstGeom>
          <a:solidFill>
            <a:srgbClr val="E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28655" y="50292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DEE0EC"/>
                </a:solidFill>
                <a:latin typeface="Roboto"/>
              </a:rPr>
              <a:t>01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DEE0EC"/>
                </a:solidFill>
                <a:latin typeface="Open Sans"/>
              </a:rPr>
              <a:t>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29384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Receita Líquida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258568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Dados insuficientes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138" y="1783080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0138" y="1783080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7882" y="1929384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Resultado Líquido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7882" y="2258568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Dados insuficientes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3348" y="1783080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3348" y="1783080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1092" y="1929384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Margem Líquida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092" y="2258568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Dados insuficientes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6558" y="1783080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36558" y="1783080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4302" y="1929384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EBITDA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4302" y="2258568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Dados insuficientes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74136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74136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520440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EBITDA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49624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Dados insuficientes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90138" y="3374136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90138" y="3374136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27882" y="3520440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Disponibilidade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7882" y="3849624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R$ 475.635,31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3348" y="3374136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3348" y="3374136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1092" y="3520440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Ativo Total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1092" y="3849624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R$ 1.475.704,39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36558" y="3374136"/>
            <a:ext cx="258546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36558" y="3374136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74302" y="3520440"/>
            <a:ext cx="221970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Passivo Circulante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4302" y="3849624"/>
            <a:ext cx="22197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R$ 131.330,63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400800"/>
            <a:ext cx="11055096" cy="10972"/>
          </a:xfrm>
          <a:prstGeom prst="rect">
            <a:avLst/>
          </a:prstGeom>
          <a:solidFill>
            <a:srgbClr val="DE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6E86"/>
                </a:solidFill>
                <a:latin typeface="Open Sans"/>
              </a:rPr>
              <a:t>Valores extraídos dos documentos importados. Onde não há dado: 'Dados insuficientes'.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7135" y="6473952"/>
            <a:ext cx="1627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4B7AF"/>
                </a:solidFill>
                <a:latin typeface="Open Sans"/>
              </a:rPr>
              <a:t>FELCONT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22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2743200" cy="8564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4688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4B7AF"/>
                </a:solidFill>
                <a:latin typeface="Open Sans"/>
              </a:rPr>
              <a:t>RELATÓRIO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260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Roboto"/>
              </a:rPr>
              <a:t>ACE Catanduva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4343400"/>
            <a:ext cx="1371600" cy="54864"/>
          </a:xfrm>
          <a:prstGeom prst="rect">
            <a:avLst/>
          </a:prstGeom>
          <a:solidFill>
            <a:srgbClr val="E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6177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2F3F8"/>
                </a:solidFill>
                <a:latin typeface="Open Sans"/>
              </a:rPr>
              <a:t>Período:  </a:t>
            </a:r>
            <a:r>
              <a:rPr sz="1400" b="1">
                <a:solidFill>
                  <a:srgbClr val="FFFFFF"/>
                </a:solidFill>
                <a:latin typeface="Open Sans"/>
              </a:rPr>
              <a:t>Acumulado até Julho/2026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2F3F8"/>
                </a:solidFill>
                <a:latin typeface="Open Sans"/>
              </a:rPr>
              <a:t>Responsável:  </a:t>
            </a:r>
            <a:r>
              <a:rPr sz="1400" b="1">
                <a:solidFill>
                  <a:srgbClr val="FFFFFF"/>
                </a:solidFill>
                <a:latin typeface="Open Sans"/>
              </a:rPr>
              <a:t>FELCONT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4B7AF"/>
                </a:solidFill>
                <a:latin typeface="Open Sans"/>
              </a:rPr>
              <a:t>Informação contábil transformada em decisão.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4B7AF"/>
                </a:solidFill>
                <a:latin typeface="Open Sans"/>
              </a:rPr>
              <a:t>ÍNDICES DE LIQUIDEZ DO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262445"/>
                </a:solidFill>
                <a:latin typeface="Roboto"/>
              </a:rPr>
              <a:t>Liquidez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463040"/>
            <a:ext cx="1097280" cy="54864"/>
          </a:xfrm>
          <a:prstGeom prst="rect">
            <a:avLst/>
          </a:prstGeom>
          <a:solidFill>
            <a:srgbClr val="E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28655" y="50292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DEE0EC"/>
                </a:solidFill>
                <a:latin typeface="Roboto"/>
              </a:rPr>
              <a:t>03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DEE0EC"/>
                </a:solidFill>
                <a:latin typeface="Open Sans"/>
              </a:rPr>
              <a:t>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352653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29384"/>
            <a:ext cx="31607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Liquidez Corrente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258568"/>
            <a:ext cx="3160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3,67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1208" y="1783080"/>
            <a:ext cx="352653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1208" y="1783080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8952" y="1929384"/>
            <a:ext cx="31607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Liquidez Seca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8952" y="2258568"/>
            <a:ext cx="3160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Dados insuficientes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1783080"/>
            <a:ext cx="352653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5488" y="1783080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3232" y="1929384"/>
            <a:ext cx="31607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Liquidez Imediata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3232" y="2258568"/>
            <a:ext cx="3160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3,62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374136"/>
            <a:ext cx="3526536" cy="1371600"/>
          </a:xfrm>
          <a:prstGeom prst="roundRect">
            <a:avLst>
              <a:gd name="adj" fmla="val 6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374136"/>
            <a:ext cx="82296" cy="1371600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520440"/>
            <a:ext cx="31607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6B6E86"/>
                </a:solidFill>
                <a:latin typeface="Open Sans"/>
              </a:rPr>
              <a:t>Liquidez Geral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849624"/>
            <a:ext cx="3160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262445"/>
                </a:solidFill>
                <a:latin typeface="Roboto"/>
              </a:rPr>
              <a:t>3,67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00800"/>
            <a:ext cx="11055096" cy="10972"/>
          </a:xfrm>
          <a:prstGeom prst="rect">
            <a:avLst/>
          </a:prstGeom>
          <a:solidFill>
            <a:srgbClr val="DE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6E86"/>
                </a:solidFill>
                <a:latin typeface="Open Sans"/>
              </a:rPr>
              <a:t>Valores extraídos dos documentos importados. Onde não há dado: 'Dados insuficientes'.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97135" y="6473952"/>
            <a:ext cx="1627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4B7AF"/>
                </a:solidFill>
                <a:latin typeface="Open Sans"/>
              </a:rPr>
              <a:t>FELCONT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4B7AF"/>
                </a:solidFill>
                <a:latin typeface="Open Sans"/>
              </a:rPr>
              <a:t>ESTRUTURA PATRIMONIAL — PADRÃO FELCONT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262445"/>
                </a:solidFill>
                <a:latin typeface="Roboto"/>
              </a:rPr>
              <a:t>Balanço Patrimonial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463040"/>
            <a:ext cx="1097280" cy="54864"/>
          </a:xfrm>
          <a:prstGeom prst="rect">
            <a:avLst/>
          </a:prstGeom>
          <a:solidFill>
            <a:srgbClr val="E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28655" y="50292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DEE0EC"/>
                </a:solidFill>
                <a:latin typeface="Roboto"/>
              </a:rPr>
              <a:t>04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DEE0EC"/>
                </a:solidFill>
                <a:latin typeface="Open Sans"/>
              </a:rPr>
              <a:t>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5394960" cy="384048"/>
          </a:xfrm>
          <a:prstGeom prst="roundRect">
            <a:avLst>
              <a:gd name="adj" fmla="val 10000"/>
            </a:avLst>
          </a:prstGeom>
          <a:solidFill>
            <a:srgbClr val="322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83080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ATIVO (Aplicações)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286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22F6A"/>
                </a:solidFill>
                <a:latin typeface="Open Sans"/>
              </a:rPr>
              <a:t>ATIVO CIRCULANTE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7860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Caixa e Equivalentes de Caixa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257860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R$ 475.635,31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85292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Adiantamentos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852927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R$ 0,00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12724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Impostos a recuperar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3127247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R$ 6.558,74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0156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Total Ativo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4528" y="3401567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R$ 482.194,05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7588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322F6A"/>
                </a:solidFill>
                <a:latin typeface="Open Sans"/>
              </a:rPr>
              <a:t>ATIVO NÃO CIRCULANTE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Investimentos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4528" y="396849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R$ 780,00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24281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Imobilizado Líquido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424281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R$ 992.730,34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451713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Total Ativo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451713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R$ 993.510,34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1783080"/>
            <a:ext cx="5394960" cy="384048"/>
          </a:xfrm>
          <a:prstGeom prst="roundRect">
            <a:avLst>
              <a:gd name="adj" fmla="val 10000"/>
            </a:avLst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1783080"/>
            <a:ext cx="5029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PASSIVO + PL (Origens)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286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4B7AF"/>
                </a:solidFill>
                <a:latin typeface="Open Sans"/>
              </a:rPr>
              <a:t>PASSIVO CIRCULANTE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257860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Empréstimos e Financiamentos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2952" y="257860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R$ 5.382,63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285292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Fornecedores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02952" y="2852927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R$ 87.477,94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312724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Obrigações Trabalhistas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3127247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R$ 37.185,58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340156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Obrigações Tributárias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2952" y="3401567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R$ 1.284,48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367588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Total Passivo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02952" y="3675887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R$ 131.330,63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6792" y="395020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4B7AF"/>
                </a:solidFill>
                <a:latin typeface="Open Sans"/>
              </a:rPr>
              <a:t>PASSIVO NÃO CIRCULANTE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2" y="424281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Exigível a Longo Prazo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02952" y="424281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R$ 0,00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451713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Total Passivo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2952" y="451713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R$ 0,00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6792" y="479145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4B7AF"/>
                </a:solidFill>
                <a:latin typeface="Open Sans"/>
              </a:rPr>
              <a:t>PATRIMÔNIO LÍQUIDO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508406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Superávit (Patrimônio Social)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02952" y="5084064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R$ 1.340.351,57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5358383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Superávit ou Déficit Líquido (Período)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2952" y="5358383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262445"/>
                </a:solidFill>
                <a:latin typeface="Open Sans"/>
              </a:rPr>
              <a:t>R$ 4.022,19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3952" y="5632703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Total Patrimônio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02952" y="5632703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262445"/>
                </a:solidFill>
                <a:latin typeface="Open Sans"/>
              </a:rPr>
              <a:t>R$ 1.344.373,76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400800"/>
            <a:ext cx="11055096" cy="10972"/>
          </a:xfrm>
          <a:prstGeom prst="rect">
            <a:avLst/>
          </a:prstGeom>
          <a:solidFill>
            <a:srgbClr val="DE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6E86"/>
                </a:solidFill>
                <a:latin typeface="Open Sans"/>
              </a:rPr>
              <a:t>Balanço reorganizado no padrão FELCONT — nomenclatura original preservada.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97135" y="6473952"/>
            <a:ext cx="1627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4B7AF"/>
                </a:solidFill>
                <a:latin typeface="Open Sans"/>
              </a:rPr>
              <a:t>FELCONT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4B7AF"/>
                </a:solidFill>
                <a:latin typeface="Open Sans"/>
              </a:rPr>
              <a:t>FELCONT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262445"/>
                </a:solidFill>
                <a:latin typeface="Roboto"/>
              </a:rPr>
              <a:t>Pontos de Atenção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463040"/>
            <a:ext cx="1097280" cy="54864"/>
          </a:xfrm>
          <a:prstGeom prst="rect">
            <a:avLst/>
          </a:prstGeom>
          <a:solidFill>
            <a:srgbClr val="E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28655" y="50292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DEE0EC"/>
                </a:solidFill>
                <a:latin typeface="Roboto"/>
              </a:rPr>
              <a:t>05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DEE0EC"/>
                </a:solidFill>
                <a:latin typeface="Open Sans"/>
              </a:rPr>
              <a:t>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11055096" cy="1234440"/>
          </a:xfrm>
          <a:prstGeom prst="roundRect">
            <a:avLst>
              <a:gd name="adj" fmla="val 5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100584" cy="1234440"/>
          </a:xfrm>
          <a:prstGeom prst="rect">
            <a:avLst/>
          </a:prstGeom>
          <a:solidFill>
            <a:srgbClr val="E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11095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A13A"/>
                </a:solidFill>
                <a:latin typeface="Open Sans"/>
              </a:rPr>
              <a:t>PONTO DE ATENÇÃO  ·  </a:t>
            </a:r>
            <a:r>
              <a:rPr sz="1200" b="1">
                <a:solidFill>
                  <a:srgbClr val="262445"/>
                </a:solidFill>
                <a:latin typeface="Open Sans"/>
              </a:rPr>
              <a:t>Ausência de indicadores de desempenho operacional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6E86"/>
                </a:solidFill>
                <a:latin typeface="Open Sans"/>
              </a:rPr>
              <a:t>Receita líquida, resultado líquido, margem líquida, EBITDA, margem bruta, margem operacional e relação despesas/receita estão sem dados suficientes. Sem esses números, não é possível concluir se a posição de caixa e patrimônio está sendo sustentada por geração operacional recorrente no período de Jan a Jul de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00800"/>
            <a:ext cx="11055096" cy="10972"/>
          </a:xfrm>
          <a:prstGeom prst="rect">
            <a:avLst/>
          </a:prstGeom>
          <a:solidFill>
            <a:srgbClr val="DE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6E86"/>
                </a:solidFill>
                <a:latin typeface="Open Sans"/>
              </a:rPr>
              <a:t>Conclusões baseadas exclusivamente nos números importados.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7135" y="6473952"/>
            <a:ext cx="1627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4B7AF"/>
                </a:solidFill>
                <a:latin typeface="Open Sans"/>
              </a:rPr>
              <a:t>FELCONT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4B7AF"/>
                </a:solidFill>
                <a:latin typeface="Open Sans"/>
              </a:rPr>
              <a:t>FELCONT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262445"/>
                </a:solidFill>
                <a:latin typeface="Roboto"/>
              </a:rPr>
              <a:t>Recomendações FELCONT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463040"/>
            <a:ext cx="1097280" cy="54864"/>
          </a:xfrm>
          <a:prstGeom prst="rect">
            <a:avLst/>
          </a:prstGeom>
          <a:solidFill>
            <a:srgbClr val="E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28655" y="50292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DEE0EC"/>
                </a:solidFill>
                <a:latin typeface="Roboto"/>
              </a:rPr>
              <a:t>06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DEE0EC"/>
                </a:solidFill>
                <a:latin typeface="Open Sans"/>
              </a:rPr>
              <a:t>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11055096" cy="722376"/>
          </a:xfrm>
          <a:prstGeom prst="roundRect">
            <a:avLst>
              <a:gd name="adj" fmla="val 5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100584" cy="72237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11095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62445"/>
                </a:solidFill>
                <a:latin typeface="Open Sans"/>
              </a:rPr>
              <a:t>Completar a base gerencial de resultado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10424160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6E86"/>
                </a:solidFill>
                <a:latin typeface="Open Sans"/>
              </a:rPr>
              <a:t>Apurar e integrar os dados de receita, custos, despesas, resultado e EBITDA para que a análise passe a medir também rentabilidade, eficiência operacional e capacidade de geração de caixa, além da liquidez patrimonial.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70048"/>
            <a:ext cx="11055096" cy="722376"/>
          </a:xfrm>
          <a:prstGeom prst="roundRect">
            <a:avLst>
              <a:gd name="adj" fmla="val 5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670048"/>
            <a:ext cx="100584" cy="72237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980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62445"/>
                </a:solidFill>
                <a:latin typeface="Open Sans"/>
              </a:rPr>
              <a:t>Monitorar a composição do caixa disponível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127248"/>
            <a:ext cx="10424160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6E86"/>
                </a:solidFill>
                <a:latin typeface="Open Sans"/>
              </a:rPr>
              <a:t>Detalhar a natureza dos R$ 475.635,31 em disponibilidade e validar sua livre movimentação, para distinguir valores efetivamente utilizáveis de eventuais saldos com restrição ou destinação específica.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7015"/>
            <a:ext cx="11055096" cy="722376"/>
          </a:xfrm>
          <a:prstGeom prst="roundRect">
            <a:avLst>
              <a:gd name="adj" fmla="val 5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557015"/>
            <a:ext cx="100584" cy="72237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5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62445"/>
                </a:solidFill>
                <a:latin typeface="Open Sans"/>
              </a:rPr>
              <a:t>Definir política de alocação da liquidez excedente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14215"/>
            <a:ext cx="10424160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6E86"/>
                </a:solidFill>
                <a:latin typeface="Open Sans"/>
              </a:rPr>
              <a:t>Como a liquidez imediata é de 3,62 e a corrente é de 3,67, vale estabelecer critérios formais para manter a reserva mínima operacional e direcionar eventual excedente de caixa de acordo com o planejamento financeiro da entidade.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43984"/>
            <a:ext cx="11055096" cy="722376"/>
          </a:xfrm>
          <a:prstGeom prst="roundRect">
            <a:avLst>
              <a:gd name="adj" fmla="val 5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43984"/>
            <a:ext cx="100584" cy="72237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57200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62445"/>
                </a:solidFill>
                <a:latin typeface="Open Sans"/>
              </a:rPr>
              <a:t>Acompanhar periodicamente o passivo circulante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01184"/>
            <a:ext cx="10424160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6E86"/>
                </a:solidFill>
                <a:latin typeface="Open Sans"/>
              </a:rPr>
              <a:t>Mesmo com cobertura confortável, o passivo circulante de R$ 131.330,63 deve ser monitorado por vencimento e natureza, para preservar a folga de liquidez observada e evitar concentrações de desembolso em períodos específicos.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30952"/>
            <a:ext cx="11055096" cy="722376"/>
          </a:xfrm>
          <a:prstGeom prst="roundRect">
            <a:avLst>
              <a:gd name="adj" fmla="val 5000"/>
            </a:avLst>
          </a:prstGeom>
          <a:solidFill>
            <a:srgbClr val="F2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330952"/>
            <a:ext cx="100584" cy="72237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589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62445"/>
                </a:solidFill>
                <a:latin typeface="Open Sans"/>
              </a:rPr>
              <a:t>Validar a classificação patrimonial periodicamente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788152"/>
            <a:ext cx="10424160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6E86"/>
                </a:solidFill>
                <a:latin typeface="Open Sans"/>
              </a:rPr>
              <a:t>Como não há passivo não circulante informado e o ativo não circulante soma R$ 993.510,34, recomenda-se revisar periodicamente as classificações contábeis para assegurar que a leitura de solvência continue refletindo corretamente a posição patrimonial.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00800"/>
            <a:ext cx="11055096" cy="10972"/>
          </a:xfrm>
          <a:prstGeom prst="rect">
            <a:avLst/>
          </a:prstGeom>
          <a:solidFill>
            <a:srgbClr val="DE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B6E86"/>
                </a:solidFill>
                <a:latin typeface="Open Sans"/>
              </a:rPr>
              <a:t>Conclusões baseadas exclusivamente nos números importados.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7135" y="6473952"/>
            <a:ext cx="16276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04B7AF"/>
                </a:solidFill>
                <a:latin typeface="Open Sans"/>
              </a:rPr>
              <a:t>FELCONT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22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4B7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2560320" cy="799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828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4B7AF"/>
                </a:solidFill>
                <a:latin typeface="Open Sans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Roboto"/>
              </a:rPr>
              <a:t>Na análise de Jan a Jul de 2026 da ACE Catanduva, a estrutura patrimonial e de liquidez apresenta posição favorável, com disponibilidade de R$ 475.635,31, ativo total de R$ 1.475.704,39, passivo circulante de R$ 131.330,63 e patrimônio líquido de R$ 1.344.373,76. Os indicadores de liquidez corrente (3,67), imediata (3,62) e geral (3,67) mostram ampla capacidade de cobertura das obrigações de curto prazo. Como ponto de atenção, não há dados suficientes de receita, resultado, margens e EBITDA, o que limita a avaliação da geração operacional e da rentabilidade no período.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937760"/>
            <a:ext cx="2514600" cy="822960"/>
          </a:xfrm>
          <a:prstGeom prst="roundRect">
            <a:avLst>
              <a:gd name="adj" fmla="val 8000"/>
            </a:avLst>
          </a:prstGeom>
          <a:solidFill>
            <a:srgbClr val="3E3A82"/>
          </a:solidFill>
          <a:ln w="12700">
            <a:solidFill>
              <a:srgbClr val="04B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4B7AF"/>
                </a:solidFill>
                <a:latin typeface="Roboto"/>
              </a:rPr>
              <a:t>CONCILIAR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4937760"/>
            <a:ext cx="2514600" cy="822960"/>
          </a:xfrm>
          <a:prstGeom prst="roundRect">
            <a:avLst>
              <a:gd name="adj" fmla="val 8000"/>
            </a:avLst>
          </a:prstGeom>
          <a:solidFill>
            <a:srgbClr val="3E3A82"/>
          </a:solidFill>
          <a:ln w="12700">
            <a:solidFill>
              <a:srgbClr val="04B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493776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4B7AF"/>
                </a:solidFill>
                <a:latin typeface="Roboto"/>
              </a:rPr>
              <a:t>CORRIGIR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4937760"/>
            <a:ext cx="2514600" cy="822960"/>
          </a:xfrm>
          <a:prstGeom prst="roundRect">
            <a:avLst>
              <a:gd name="adj" fmla="val 8000"/>
            </a:avLst>
          </a:prstGeom>
          <a:solidFill>
            <a:srgbClr val="3E3A82"/>
          </a:solidFill>
          <a:ln w="12700">
            <a:solidFill>
              <a:srgbClr val="04B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493776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4B7AF"/>
                </a:solidFill>
                <a:latin typeface="Roboto"/>
              </a:rPr>
              <a:t>VALIDAR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4937760"/>
            <a:ext cx="2514600" cy="822960"/>
          </a:xfrm>
          <a:prstGeom prst="roundRect">
            <a:avLst>
              <a:gd name="adj" fmla="val 8000"/>
            </a:avLst>
          </a:prstGeom>
          <a:solidFill>
            <a:srgbClr val="3E3A82"/>
          </a:solidFill>
          <a:ln w="12700">
            <a:solidFill>
              <a:srgbClr val="04B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07424" y="4937760"/>
            <a:ext cx="2514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4B7AF"/>
                </a:solidFill>
                <a:latin typeface="Roboto"/>
              </a:rPr>
              <a:t>ANALISAR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09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4B7AF"/>
                </a:solidFill>
                <a:latin typeface="Open Sans"/>
              </a:rPr>
              <a:t>FELCONT — Contabilidade, Finanças e Auditoria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