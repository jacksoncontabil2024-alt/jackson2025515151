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</c:spPr>
          </c:dPt>
          <c:dPt>
            <c:idx val="1"/>
            <c:spPr>
              <a:solidFill>
                <a:srgbClr val="57B14A"/>
              </a:solidFill>
            </c:spPr>
          </c:dPt>
          <c:dPt>
            <c:idx val="2"/>
            <c:spPr>
              <a:solidFill>
                <a:srgbClr val="322F6A"/>
              </a:solidFill>
            </c:spPr>
          </c:dPt>
          <c:dPt>
            <c:idx val="3"/>
            <c:spPr>
              <a:solidFill>
                <a:srgbClr val="E8A13A"/>
              </a:solidFill>
            </c:spPr>
          </c:dPt>
          <c:cat>
            <c:strRef>
              <c:f>Sheet1!$A$2:$A$5</c:f>
              <c:strCache>
                <c:ptCount val="4"/>
                <c:pt idx="0">
                  <c:v>Receita Líquida</c:v>
                </c:pt>
                <c:pt idx="1">
                  <c:v>Lucro Bruto</c:v>
                </c:pt>
                <c:pt idx="2">
                  <c:v>Resultado Op.</c:v>
                </c:pt>
                <c:pt idx="3">
                  <c:v>Resultado Líq.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617998.14</c:v>
                </c:pt>
                <c:pt idx="1">
                  <c:v>617998.14</c:v>
                </c:pt>
                <c:pt idx="2">
                  <c:v>4022.19</c:v>
                </c:pt>
                <c:pt idx="3">
                  <c:v>4022.19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618408.14</c:v>
                </c:pt>
                <c:pt idx="2">
                  <c:v>0</c:v>
                </c:pt>
                <c:pt idx="3">
                  <c:v>0</c:v>
                </c:pt>
                <c:pt idx="4">
                  <c:v>617998.14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R$ 618.408,14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-R$ 410,00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R$ 617.998,14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R$ 617.998,14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-R$ 613.975,95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R$ 4.022,19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618408.14</c:v>
                </c:pt>
                <c:pt idx="1">
                  <c:v>-410.0</c:v>
                </c:pt>
                <c:pt idx="2">
                  <c:v>617998.14</c:v>
                </c:pt>
                <c:pt idx="3">
                  <c:v>617998.14</c:v>
                </c:pt>
                <c:pt idx="4">
                  <c:v>-613975.95</c:v>
                </c:pt>
                <c:pt idx="5">
                  <c:v>4022.19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0EC"/>
            </a:solidFill>
          </a:ln>
        </c:spPr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ojtc8f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43200" cy="773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Open Sans"/>
              </a:rPr>
              <a:t>RELATÓRIO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Roboto"/>
              </a:rPr>
              <a:t>ACE Catanduva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4340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Acumulado até Julho/2026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Responsável: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FELCONT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4B7AF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PRINCIPAIS NÚMEROS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Visão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Líquida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R$ 617.998,14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13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13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788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Resultado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88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R$ 4.022,19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334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09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655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55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430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430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013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9013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788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Disponibilidade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88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R$ 475.635,31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334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334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109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Ativo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109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R$ 1.475.704,39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655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655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430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430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R$ 131.330,63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MARGENS E RENTABILIDADE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Resumo da Operação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100,00%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Despesas / Receita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99,35%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COMPARATIVO DAS PRINCIPAIS LINHAS DA 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Receita e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DRE EM CASCATA (WATERFALL)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Formação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Cascata da DRE — 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ÍNDICES DE LIQUIDEZ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Liquidez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Corrente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Seca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Imediata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Geral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DEMONSTRAÇÃO DO RESULTADO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DRE Gerencial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55096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0"/>
                <a:gridCol w="3008376"/>
              </a:tblGrid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CONTA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VALOR (R$)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Receita Operacional Bruta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R$ 618.408,14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Deduções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-R$ 410,00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Receita Operacional Líquida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R$ 617.998,14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Lucro Bruto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R$ 617.998,14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Despesas Operacionais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-R$ 613.975,95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(+) Receitas Financeiras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R$ 49.756,09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Operacional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(=) Resultado antes dos Tributos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Líquido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DRE reconstruída no padrão FELCONT a partir do documento importado (tabela editável).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ESTRUTURA PATRIMONIAL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Balanço Patrimonial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08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ATIVO (Aplicações)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CIRCULANTE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Caixa e Equivalentes de Caixa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R$ 475.635,31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Adiantamentos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Impostos a recuperar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R$ 6.558,74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R$ 482.194,05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7588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NÃO CIRCULANTE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6849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Investimentos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96849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R$ 780,00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Imobilizado Líquido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24281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R$ 992.730,34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5171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451713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R$ 993.510,34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PASSIVO + PL (Origens)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CIRCULANTE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Empréstimos e Financiamentos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R$ 5.382,63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R$ 87.477,94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Trabalhistas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R$ 37.185,58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Tributárias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R$ 1.284,48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R$ 131.330,63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95020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NÃO CIRCULANTE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Exigível a Longo Prazo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424281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45171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451713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479145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PATRIMÔNIO LÍQUIDO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50840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Superávit (Patrimônio Social)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508406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R$ 1.340.351,57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535838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Superávit ou Déficit Líquido (Período)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535838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R$ 4.022,19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563270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Patrimônio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563270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R$ 1.344.373,76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Balanço reorganizado no padrão FELCONT — nomenclatura original preservada.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09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Rentabilidade final muito estreita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Apesar do lucro líquido positivo de R$ 4.022,19, a Margem Líquida de 0,65% mostra que a operação gerou resultado muito baixo em relação à Receita Líquida de R$ 617.998,14. Pequenas oscilações de receita ou aumento de despesas podem eliminar esse ganho.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178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91789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1980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RISCO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Despesas consumindo praticamente toda a receita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4898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 indicador Despesas / Receita em 99,35% demonstra que quase toda a Receita Líquida foi absorvida pelas despesas. Isso explica a Margem Operacional de 0,65% e reduz a capacidade de formação de resultado, mesmo com receita relevante no período.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050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00500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85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Margem bruta de 100,00% requer conciliação contábil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5770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Margem Bruta informada em 100,00%, somada à ausência de custos no resumo financeiro, indica que não houve apuração de custos no período analisado. Como isso impacta diretamente a leitura operacional, é necessário conciliar a classificação contábil entre custos e despesas para melhorar a qualidade gerencial dos indicadores.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0920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109209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3722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EBITDA indisponível limita a leitura da geração operacional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6640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Os indicadores de EBITDA e EBITDA % constam como 'Dados insuficientes', o que impede avaliar com clareza a geração operacional antes dos efeitos financeiros e contábeis. Essa ausência reduz a profundidade da análise de desempenho do período.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Recomendações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10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Revisar e detalhar a composição das despesas operacionais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Como as despesas consomem 99,35% da receita, priorize a abertura por natureza e centro de custo para identificar quais grupos estão comprimindo a margem de 0,65%. O foco deve ser reduzir despesas recorrentes sem comprometer a operação.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70048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70048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980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Conciliar o tratamento contábil de custos e despesas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27248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Margem Bruta de 100,00% e a ausência de custos apurados indicam necessidade de revisar classificações contábeis. A conciliação permitirá leitura mais fiel da operação e melhor acompanhamento das margens ao longo dos próximos meses.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7015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57015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850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Estruturar acompanhamento mensal de margem e 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14215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Com lucro líquido de R$ 4.022,19 sobre receita de R$ 617.998,14, recomenda-se monitoramento mensal da Margem Operacional, Margem Líquida e relação Despesas/Receita para detectar rapidamente desvios que possam levar o resultado para zero ou negativo.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43984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43984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Aproveitar a folga de caixa para planejar eficiência operacional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01184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Disponibilidade de R$ 475.635,31, associada à Liquidez Imediata de 3,62, permite organizar ações de ganho de eficiência com baixo risco de caixa no curto prazo. O uso dessa folga deve ser orientado a iniciativas que ampliem a geração de resultado.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30952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30952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589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Completar a base de indicadores operacionais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88152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Regularize as informações necessárias para apuração de EBITDA, EBITDA % e Liquidez Seca. Isso ampliará a capacidade de análise gerencial e permitirá comparar desempenho operacional, estrutura de custos e qualidade da liquidez com maior precisão.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ojtc8f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560320" cy="721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4B7AF"/>
                </a:solidFill>
                <a:latin typeface="Open Sans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Roboto"/>
              </a:rPr>
              <a:t>No período de Jan a Jul de 2026, a ACE Catanduva apresentou Receita Líquida de R$ 617.998,14 e Resultado Líquido positivo de R$ 4.022,19, com Margem Líquida de 0,65%. A estrutura patrimonial está sólida, com Patrimônio Líquido de R$ 1.344.373,76 em um Ativo Total de R$ 1.475.704,39, além de boa capacidade de pagamento no curto prazo, evidenciada pela Liquidez Corrente de 3,67 e Liquidez Imediata de 3,62. Como principal ponto de atenção, as despesas representam 99,35% da receita, comprimindo fortemente o resultado. Também é necessário conciliar a ausência de custos apurados, refletida em Margem Bruta de 100,00% e EBITDA indisponível.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CONCILIAR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CORRIGIR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VALIDAR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7424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ANALISAR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— Contabilidade, Finanças e Auditoria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