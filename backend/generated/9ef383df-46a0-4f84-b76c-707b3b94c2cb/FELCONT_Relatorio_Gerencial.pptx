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</c:spPr>
          </c:dPt>
          <c:dPt>
            <c:idx val="1"/>
            <c:spPr>
              <a:solidFill>
                <a:srgbClr val="57B14A"/>
              </a:solidFill>
            </c:spPr>
          </c:dPt>
          <c:dPt>
            <c:idx val="2"/>
            <c:spPr>
              <a:solidFill>
                <a:srgbClr val="322F6A"/>
              </a:solidFill>
            </c:spPr>
          </c:dPt>
          <c:dPt>
            <c:idx val="3"/>
            <c:spPr>
              <a:solidFill>
                <a:srgbClr val="E8A13A"/>
              </a:solidFill>
            </c:spPr>
          </c:dPt>
          <c:cat>
            <c:strRef>
              <c:f>Sheet1!$A$2:$A$5</c:f>
              <c:strCache>
                <c:ptCount val="4"/>
                <c:pt idx="0">
                  <c:v>Receita Líquida</c:v>
                </c:pt>
                <c:pt idx="1">
                  <c:v>Lucro Bruto</c:v>
                </c:pt>
                <c:pt idx="2">
                  <c:v>Resultado Op.</c:v>
                </c:pt>
                <c:pt idx="3">
                  <c:v>Resultado Líq.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617998.14</c:v>
                </c:pt>
                <c:pt idx="1">
                  <c:v>617998.14</c:v>
                </c:pt>
                <c:pt idx="2">
                  <c:v>4022.19</c:v>
                </c:pt>
                <c:pt idx="3">
                  <c:v>4022.19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618408.14</c:v>
                </c:pt>
                <c:pt idx="2">
                  <c:v>0</c:v>
                </c:pt>
                <c:pt idx="3">
                  <c:v>0</c:v>
                </c:pt>
                <c:pt idx="4">
                  <c:v>617998.14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pos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R$ 618.408,14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-R$ 410,00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R$ 617.998,14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FFFFFF"/>
                        </a:solidFill>
                        <a:latin typeface="Open Sans"/>
                      </a:rPr>
                      <a:t>-R$ 613.975,95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850" b="1">
                        <a:solidFill>
                          <a:srgbClr val="262445"/>
                        </a:solidFill>
                        <a:latin typeface="Open Sans"/>
                      </a:rPr>
                      <a:t>R$ 4.022,19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618408.14</c:v>
                </c:pt>
                <c:pt idx="1">
                  <c:v>-410.0</c:v>
                </c:pt>
                <c:pt idx="2">
                  <c:v>617998.14</c:v>
                </c:pt>
                <c:pt idx="3">
                  <c:v>617998.14</c:v>
                </c:pt>
                <c:pt idx="4">
                  <c:v>-613975.95</c:v>
                </c:pt>
                <c:pt idx="5">
                  <c:v>4022.19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</c:v>
                </c:pt>
              </c:strCache>
            </c:strRef>
          </c:tx>
          <c:dPt>
            <c:idx val="0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04B7AF"/>
              </a:solidFill>
              <a:ln w="9525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A13A"/>
              </a:solidFill>
              <a:ln w="9525"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57B14A"/>
              </a:solidFill>
              <a:ln w="9525"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Receita Bruta</c:v>
                </c:pt>
                <c:pt idx="1">
                  <c:v>(–) Deduções</c:v>
                </c:pt>
                <c:pt idx="2">
                  <c:v>Receita Líquida</c:v>
                </c:pt>
                <c:pt idx="3">
                  <c:v>Lucro Bruto</c:v>
                </c:pt>
                <c:pt idx="4">
                  <c:v>(–) Despesas</c:v>
                </c:pt>
                <c:pt idx="5">
                  <c:v>Resultado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EE0EC"/>
            </a:solidFill>
          </a:ln>
        </c:spPr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Caixa</c:v>
                </c:pt>
              </c:strCache>
            </c:strRef>
          </c:tx>
          <c:spPr>
            <a:solidFill>
              <a:srgbClr val="322F6A"/>
            </a:solidFill>
          </c:spPr>
          <c:cat>
            <c:strRef>
              <c:f>Sheet1!$A$2:$A$8</c:f>
              <c:strCache>
                <c:ptCount val="7"/>
                <c:pt idx="0">
                  <c:v>07/2026</c:v>
                </c:pt>
                <c:pt idx="1">
                  <c:v>06/2026</c:v>
                </c:pt>
                <c:pt idx="2">
                  <c:v>05/2026</c:v>
                </c:pt>
                <c:pt idx="3">
                  <c:v>04/2026</c:v>
                </c:pt>
                <c:pt idx="4">
                  <c:v>03/2026</c:v>
                </c:pt>
                <c:pt idx="5">
                  <c:v>02/2026</c:v>
                </c:pt>
                <c:pt idx="6">
                  <c:v>01/2026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198.08</c:v>
                </c:pt>
                <c:pt idx="1">
                  <c:v>259.65</c:v>
                </c:pt>
                <c:pt idx="2">
                  <c:v>235.63</c:v>
                </c:pt>
                <c:pt idx="3">
                  <c:v>352.03</c:v>
                </c:pt>
                <c:pt idx="4">
                  <c:v>103.7</c:v>
                </c:pt>
                <c:pt idx="5">
                  <c:v>41.05</c:v>
                </c:pt>
                <c:pt idx="6">
                  <c:v>127.35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Proventos</c:v>
                </c:pt>
              </c:strCache>
            </c:strRef>
          </c:tx>
          <c:spPr>
            <a:solidFill>
              <a:srgbClr val="322F6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11787.15</c:v>
                </c:pt>
                <c:pt idx="1">
                  <c:v>24684.59</c:v>
                </c:pt>
                <c:pt idx="2">
                  <c:v>38063.41</c:v>
                </c:pt>
                <c:pt idx="3">
                  <c:v>53630.91</c:v>
                </c:pt>
                <c:pt idx="4">
                  <c:v>68290.09</c:v>
                </c:pt>
                <c:pt idx="5">
                  <c:v>81493.88</c:v>
                </c:pt>
                <c:pt idx="6">
                  <c:v>102852.38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Encargos</c:v>
                </c:pt>
              </c:strCache>
            </c:strRef>
          </c:tx>
          <c:spPr>
            <a:solidFill>
              <a:srgbClr val="04B7AF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4952.84</c:v>
                </c:pt>
                <c:pt idx="1">
                  <c:v>10450.38</c:v>
                </c:pt>
                <c:pt idx="2">
                  <c:v>18847.54</c:v>
                </c:pt>
                <c:pt idx="3">
                  <c:v>22867.54</c:v>
                </c:pt>
                <c:pt idx="4">
                  <c:v>31198.03</c:v>
                </c:pt>
                <c:pt idx="5">
                  <c:v>36385.6</c:v>
                </c:pt>
                <c:pt idx="6">
                  <c:v>41288.26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Benefícios</c:v>
                </c:pt>
              </c:strCache>
            </c:strRef>
          </c:tx>
          <c:spPr>
            <a:solidFill>
              <a:srgbClr val="57B14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3038.0</c:v>
                </c:pt>
                <c:pt idx="1">
                  <c:v>6107.0</c:v>
                </c:pt>
                <c:pt idx="2">
                  <c:v>9486.0</c:v>
                </c:pt>
                <c:pt idx="3">
                  <c:v>13206.0</c:v>
                </c:pt>
                <c:pt idx="4">
                  <c:v>15841.0</c:v>
                </c:pt>
                <c:pt idx="5">
                  <c:v>18941.0</c:v>
                </c:pt>
                <c:pt idx="6">
                  <c:v>21793.0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Provisões</c:v>
                </c:pt>
              </c:strCache>
            </c:strRef>
          </c:tx>
          <c:spPr>
            <a:solidFill>
              <a:srgbClr val="E8A13A"/>
            </a:solidFill>
          </c:spPr>
          <c:cat>
            <c:strRef>
              <c:f>Sheet1!$A$2:$A$8</c:f>
              <c:strCache>
                <c:ptCount val="7"/>
                <c:pt idx="0">
                  <c:v>01/2026</c:v>
                </c:pt>
                <c:pt idx="1">
                  <c:v>02/2026</c:v>
                </c:pt>
                <c:pt idx="2">
                  <c:v>03/2026</c:v>
                </c:pt>
                <c:pt idx="3">
                  <c:v>04/2026</c:v>
                </c:pt>
                <c:pt idx="4">
                  <c:v>05/2026</c:v>
                </c:pt>
                <c:pt idx="5">
                  <c:v>06/2026</c:v>
                </c:pt>
                <c:pt idx="6">
                  <c:v>07/2026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3526.31</c:v>
                </c:pt>
                <c:pt idx="1">
                  <c:v>8414.57</c:v>
                </c:pt>
                <c:pt idx="2">
                  <c:v>13141.74</c:v>
                </c:pt>
                <c:pt idx="3">
                  <c:v>14936.9</c:v>
                </c:pt>
                <c:pt idx="4">
                  <c:v>17794.26</c:v>
                </c:pt>
                <c:pt idx="5">
                  <c:v>19895.93</c:v>
                </c:pt>
                <c:pt idx="6">
                  <c:v>19353.11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1">
                  <a:solidFill>
                    <a:srgbClr val="26244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 b="1">
                <a:solidFill>
                  <a:srgbClr val="26244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EE0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E86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0vm6fa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743200" cy="7734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24688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Open Sans"/>
              </a:rPr>
              <a:t>RELATÓRIO GERENCIAL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FFFFFF"/>
                </a:solidFill>
                <a:latin typeface="Roboto"/>
              </a:rPr>
              <a:t>ASSOCIACAO COMERCIAL E EMPRESARIAL DE CATANDUVA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343400"/>
            <a:ext cx="137160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61772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F2F3F8"/>
                </a:solidFill>
                <a:latin typeface="Open Sans"/>
              </a:rPr>
              <a:t>Período:  </a:t>
            </a:r>
            <a:r>
              <a:rPr sz="1400" b="1">
                <a:solidFill>
                  <a:srgbClr val="FFFFFF"/>
                </a:solidFill>
                <a:latin typeface="Open Sans"/>
              </a:rPr>
              <a:t>01/01/2026 a 31/07/2026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217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4B7AF"/>
                </a:solidFill>
                <a:latin typeface="Open Sans"/>
              </a:rPr>
              <a:t>Informação contábil transformada em decisão.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PRINCIPAIS NÚMEROS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Visão Executiva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Receita Líquida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R$ 617.998,14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13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9013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788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Resultado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788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R$ 4.022,19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334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334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09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36558" y="1783080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655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4302" y="1929384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4302" y="2258568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EBITDA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9013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9013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2788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Disponibilidade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788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R$ 475.635,31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334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109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Ativo Total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109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R$ 1.475.704,39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36558" y="3374136"/>
            <a:ext cx="258546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655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74302" y="3520440"/>
            <a:ext cx="221970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Passivo Circulante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74302" y="3849624"/>
            <a:ext cx="221970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R$ 131.330,63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MARGENS E RENTABILIDADE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Resumo da Operação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100,00%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Margem Líquida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0,65%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Despesas / Receita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99,35%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COMPARATIVO DAS PRINCIPAIS LINHAS DA 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Receita e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04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DRE EM CASCATA (WATERFALL)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Formação do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05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Cascata da DRE — 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EVOLUÇÃO MENSAL DO CAIXA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Disponibilidade de Caixa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06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ÍNDICES DE LIQUIDEZ DO PERÍODO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Liquidez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07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Corrente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Seca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Dados insuficientes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Imediata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Liquidez Geral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3,67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COMPOSIÇÃO E CUSTO DE PESSOAL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Folha de Pagamento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08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82296" cy="13716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Custo Total da Folha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R$ 709.665,87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120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895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Proventos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95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R$ 400.802,41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783080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5488" y="1783080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3232" y="1929384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Encargos Sociais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3232" y="2258568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R$ 165.890,19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Benefícios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R$ 88.412,00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1208" y="3374136"/>
            <a:ext cx="3526536" cy="1371600"/>
          </a:xfrm>
          <a:prstGeom prst="roundRect">
            <a:avLst>
              <a:gd name="adj" fmla="val 6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1208" y="3374136"/>
            <a:ext cx="82296" cy="1371600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68952" y="3520440"/>
            <a:ext cx="3160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B6E86"/>
                </a:solidFill>
                <a:latin typeface="Open Sans"/>
              </a:rPr>
              <a:t>Provisões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8952" y="3849624"/>
            <a:ext cx="31607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262445"/>
                </a:solidFill>
                <a:latin typeface="Roboto"/>
              </a:rPr>
              <a:t>R$ 77.062,82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Valores extraídos dos documentos importados. Onde não há dado: 'Dados insuficientes'.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COMPOSIÇÃO MENSAL DA FOLHA DE PAGAMENTO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Evolução da Folha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09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66928" y="1828800"/>
          <a:ext cx="11055096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Gráfico nativo editável do PowerPoint.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DEMONSTRAÇÃO DO RESULTADO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DRE Gerencial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783080"/>
          <a:ext cx="11055096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6720"/>
                <a:gridCol w="3008376"/>
              </a:tblGrid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CONTA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VALOR (R$)</a:t>
                      </a:r>
                    </a:p>
                  </a:txBody>
                  <a:tcPr anchor="ctr" marL="109728" marR="109728" marT="18288" marB="18288">
                    <a:solidFill>
                      <a:srgbClr val="322F6A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Receita Operacional Bruta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R$ 618.408,14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Deduções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-R$ 410,00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Receita Operacional Líquida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Lucro Bruto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R$ 617.998,14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(–) Despesas Operacionais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D6453F"/>
                          </a:solidFill>
                          <a:latin typeface="Open Sans"/>
                        </a:rPr>
                        <a:t>-R$ 613.975,95</a:t>
                      </a:r>
                    </a:p>
                  </a:txBody>
                  <a:tcPr anchor="ctr" marL="109728" marR="109728" marT="18288" marB="18288">
                    <a:solidFill>
                      <a:srgbClr val="F2F3F8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(+) Receitas Financeiras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R$ 49.756,09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Operacional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  <a:tr h="424281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445"/>
                          </a:solidFill>
                          <a:latin typeface="Open Sans"/>
                        </a:rPr>
                        <a:t>(=) Resultado antes dos Tributos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262445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FFFFFF"/>
                    </a:solidFill>
                  </a:tcPr>
                </a:tc>
              </a:tr>
              <a:tr h="424287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(=) Resultado Líquido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Open Sans"/>
                        </a:rPr>
                        <a:t>R$ 4.022,19</a:t>
                      </a:r>
                    </a:p>
                  </a:txBody>
                  <a:tcPr anchor="ctr" marL="109728" marR="109728" marT="18288" marB="18288">
                    <a:solidFill>
                      <a:srgbClr val="04B7A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DRE reconstruída no padrão FELCONT a partir do documento importado (tabela editável).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ESTRUTURA PATRIMONIAL — PADRÃO FELCONT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Balanço Patrimonial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11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ATIVO (Aplicações)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CIRCULANTE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DISPONÍVEL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R$ 475.635,31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NUMERÁRIOS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R$ 198,08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DEPÓSITOS BANCÁRIOS A VISTA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8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R$ 10.143,97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APLICAÇÕES DE LIQUIDEZ IMEDIATA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24528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R$ 465.293,26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OUTROS CRÉDITOS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R$ 6.558,74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ADIANTAMENTOS A FUNCIONARIOS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24528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24528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R$ 482.194,05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322F6A"/>
                </a:solidFill>
                <a:latin typeface="Open Sans"/>
              </a:rPr>
              <a:t>ATIVO NÃO CIRCULANTE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INVESTIMENTOS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R$ 780,00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APLICAÇÕES FINANCEIRAS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4528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R$ 780,00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IMOBILIZADO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24528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R$ 992.730,34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61441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IMÓVEIS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4528" y="561441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R$ 782.451,48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88873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BENS EM OPERAÇÃO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4528" y="588873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R$ 297.206,33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" y="61630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(-) DEPRECIAÇÃO/AMORTIZAÇÃO/EXAUSTÃO ACUMULADA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8" y="61630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D6453F"/>
                </a:solidFill>
                <a:latin typeface="Open Sans"/>
              </a:rPr>
              <a:t>-R$ 86.927,47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8" y="64373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Ativo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24528" y="64373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R$ 993.510,34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5352" y="1783080"/>
            <a:ext cx="5394960" cy="384048"/>
          </a:xfrm>
          <a:prstGeom prst="roundRect">
            <a:avLst>
              <a:gd name="adj" fmla="val 10000"/>
            </a:avLst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1783080"/>
            <a:ext cx="5029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Open Sans"/>
              </a:rPr>
              <a:t>PASSIVO + PL (Origens)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36792" y="22860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CIRCULANTE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25786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INSTITUIÇÕES FINANCEIRAS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2952" y="257860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R$ 5.382,63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3952" y="28529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EMPRÉSTIMOS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2952" y="28529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R$ 5.382,63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312724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2952" y="312724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R$ 87.477,94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340156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FORNECEDORES NACIONAIS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02952" y="340156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R$ 87.477,94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367588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02952" y="367588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R$ 1.284,48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395020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IMPOSTOS E CONTRIBUIÇÕES A RECOLHER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2952" y="395020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R$ 414,27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4224527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02952" y="4224527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R$ 131.330,63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36792" y="4498847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PASSIVO NÃO CIRCULANTE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73952" y="479145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A LONGO PRAZO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02952" y="479145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73952" y="506577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OBRIGAÇÕES TRIBUTÁRIAS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02952" y="506577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5340095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Passivo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02952" y="5340095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R$ 0,00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5614415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4B7AF"/>
                </a:solidFill>
                <a:latin typeface="Open Sans"/>
              </a:rPr>
              <a:t>PATRIMÔNIO LÍQUIDO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73952" y="590702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PATRIMÔNIO LÍQUIDO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02952" y="590702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R$ 4.022,19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73952" y="618134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LUCROS E PREJUÍZOS DO EXERCÍCIO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02952" y="618134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R$ 4.022,19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73952" y="645566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PATRIMÔNIO SOCIAL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645566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73952" y="67299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OUTRAS CONTAS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02952" y="672998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262445"/>
                </a:solidFill>
                <a:latin typeface="Open Sans"/>
              </a:rPr>
              <a:t>R$ 1.340.351,57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73952" y="700430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Total Patrimônio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902952" y="7004303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445"/>
                </a:solidFill>
                <a:latin typeface="Open Sans"/>
              </a:rPr>
              <a:t>R$ 1.344.373,76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Balanço reorganizado no padrão FELCONT — nomenclatura original preservada.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Pontos de Atenção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12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Rentabilidade líquida muito baixa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Apesar do lucro líquido positivo de R$ 4.022,19, a margem líquida ficou em apenas 0,65% sobre a Receita Líquida de R$ 617.998,14. Em termos gerenciais, isso mostra que praticamente toda a receita foi consumida ao longo da operação, reduzindo a capacidade de formação de resultado.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178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89178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019806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RISCO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Despesas consomem quase toda a receita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4898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O indicador Despesas / Receita está em 99,35%, com despesas operacionais de R$ 613.975,95 para uma Receita Líquida de R$ 617.998,14. Com esse nível de comprometimento, qualquer oscilação negativa de receita ou aumento adicional de despesas pode eliminar o resultado positivo do período.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00500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000500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2851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Margem bruta de 100% exige conciliação dos custos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57700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A Margem Bruta foi apurada em 100,00% porque não há custos informados e o lucro bruto coincide com a Receita Líquida em R$ 617.998,14. Como não há base de custos apresentada, esse indicador deve ser conciliado antes de ser utilizado para decisões de precificação, mix ou eficiência operacional.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09209"/>
            <a:ext cx="11055096" cy="944118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109209"/>
            <a:ext cx="100584" cy="944118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3722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8A13A"/>
                </a:solidFill>
                <a:latin typeface="Open Sans"/>
              </a:rPr>
              <a:t>PONTO DE ATENÇÃO  ·  </a:t>
            </a:r>
            <a:r>
              <a:rPr sz="1200" b="1">
                <a:solidFill>
                  <a:srgbClr val="262445"/>
                </a:solidFill>
                <a:latin typeface="Open Sans"/>
              </a:rPr>
              <a:t>Indicadores de EBITDA indisponíveis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66409"/>
            <a:ext cx="10424160" cy="4869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EBITDA e EBITDA % constam como dados insuficientes. Sem esses indicadores, a análise da geração operacional de caixa e da eficiência recorrente da operação fica limitada no período avaliado.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68096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>
                <a:solidFill>
                  <a:srgbClr val="262445"/>
                </a:solidFill>
                <a:latin typeface="Roboto"/>
              </a:rPr>
              <a:t>Recomendações FELCONT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" y="1463040"/>
            <a:ext cx="1097280" cy="54864"/>
          </a:xfrm>
          <a:prstGeom prst="rect">
            <a:avLst/>
          </a:prstGeom>
          <a:solidFill>
            <a:srgbClr val="E8A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28655" y="50292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EE0EC"/>
                </a:solidFill>
                <a:latin typeface="Roboto"/>
              </a:rPr>
              <a:t>13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DEE0EC"/>
                </a:solidFill>
                <a:latin typeface="Open Sans"/>
              </a:rPr>
              <a:t>/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83080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Conciliar custos e composição da margem bruta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Validar a classificação contábil dos custos, pois a margem bruta de 100,00% e o lucro bruto igual à receita líquida indicam ausência de custos informados. Essa conciliação é prioritária para que a análise de rentabilidade reflita a operação real.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70048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670048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98064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Revisar despesas operacionais com foco nas maiores linhas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Como as despesas representam 99,35% da receita, mapear as contas que mais pressionam o resultado e estabelecer metas objetivas de redução ou reclassificação, preservando a geração de margem líquida acima do patamar atual de 0,65%.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7015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557015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85031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Acompanhar margem mensalmente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14215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Monitorar mensalmente a relação entre receita, despesas operacionais e resultado líquido, porque o lucro de R$ 4.022,19 no acumulado de janeiro a julho mostra baixa folga operacional e sensibilidade elevada a pequenas variações.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43984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443984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5720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Estruturar painel de geração operacional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901184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Completar as informações necessárias para apuração de EBITDA e EBITDA %, permitindo avaliar com mais precisão a geração operacional e separar efeitos estritamente operacionais de eventuais impactos contábeis ou financeiros.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30952"/>
            <a:ext cx="11055096" cy="722376"/>
          </a:xfrm>
          <a:prstGeom prst="roundRect">
            <a:avLst>
              <a:gd name="adj" fmla="val 5000"/>
            </a:avLst>
          </a:prstGeom>
          <a:solidFill>
            <a:srgbClr val="F2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330952"/>
            <a:ext cx="100584" cy="72237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4589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62445"/>
                </a:solidFill>
                <a:latin typeface="Open Sans"/>
              </a:rPr>
              <a:t>Definir estratégia para excedente de caixa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788152"/>
            <a:ext cx="10424160" cy="265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6E86"/>
                </a:solidFill>
                <a:latin typeface="Open Sans"/>
              </a:rPr>
              <a:t>Com disponibilidade de R$ 475.635,31 e liquidez imediata de 3,62, vale avaliar uma política para uso do caixa excedente, sempre compatível com o ciclo operacional e obrigações de curto prazo, evitando manter recursos ociosos sem objetivo gerencial claro.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6400800"/>
            <a:ext cx="11055096" cy="10972"/>
          </a:xfrm>
          <a:prstGeom prst="rect">
            <a:avLst/>
          </a:prstGeom>
          <a:solidFill>
            <a:srgbClr val="DEE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9601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6E86"/>
                </a:solidFill>
                <a:latin typeface="Open Sans"/>
              </a:rPr>
              <a:t>Conclusões baseadas exclusivamente nos números importados.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7135" y="6473952"/>
            <a:ext cx="1627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04B7AF"/>
                </a:solidFill>
                <a:latin typeface="Open Sans"/>
              </a:rPr>
              <a:t>FELCONT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22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4B7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mp0vm6fa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2560320" cy="7218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182880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4B7AF"/>
                </a:solidFill>
                <a:latin typeface="Open Sans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Roboto"/>
              </a:rPr>
              <a:t>De janeiro a julho, a ACE apresentou Receita Líquida de R$ 617.998,14 e Resultado Líquido positivo de R$ 4.022,19, com margem líquida de 0,65%, indicando operação superavitária, porém com rentabilidade muito comprimida. A estrutura patrimonial e financeira mostra baixo nível de exigibilidades, com Passivo Circulante de R$ 131.330,63 frente a Disponibilidade de R$ 475.635,31, resultando em liquidez corrente de 3,67 e liquidez imediata de 3,62. Como principal ponto de atenção, as despesas representam 99,35% da receita e a margem bruta de 100,00% decorre de ausência de custos informados, o que exige conciliação para leitura gerencial mais precisa.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CONCILIAR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CORRIGIR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VALIDAR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7424" y="493776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3E3A82"/>
          </a:solidFill>
          <a:ln w="12700">
            <a:solidFill>
              <a:srgbClr val="04B7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07424" y="4937760"/>
            <a:ext cx="2514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04B7AF"/>
                </a:solidFill>
                <a:latin typeface="Roboto"/>
              </a:rPr>
              <a:t>ANALISAR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3093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4B7AF"/>
                </a:solidFill>
                <a:latin typeface="Open Sans"/>
              </a:rPr>
              <a:t>FELCONT — Contabilidade, Finanças e Auditoria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