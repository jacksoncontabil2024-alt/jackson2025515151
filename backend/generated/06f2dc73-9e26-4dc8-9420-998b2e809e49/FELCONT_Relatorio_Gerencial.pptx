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R$</c:v>
                </c:pt>
              </c:strCache>
            </c:strRef>
          </c:tx>
          <c:dPt>
            <c:idx val="0"/>
            <c:spPr>
              <a:solidFill>
                <a:srgbClr val="04B7AF"/>
              </a:solidFill>
            </c:spPr>
          </c:dPt>
          <c:dPt>
            <c:idx val="1"/>
            <c:spPr>
              <a:solidFill>
                <a:srgbClr val="57B14A"/>
              </a:solidFill>
            </c:spPr>
          </c:dPt>
          <c:dPt>
            <c:idx val="2"/>
            <c:spPr>
              <a:solidFill>
                <a:srgbClr val="322F6A"/>
              </a:solidFill>
            </c:spPr>
          </c:dPt>
          <c:dPt>
            <c:idx val="3"/>
            <c:spPr>
              <a:solidFill>
                <a:srgbClr val="E8A13A"/>
              </a:solidFill>
            </c:spPr>
          </c:dPt>
          <c:cat>
            <c:strRef>
              <c:f>Sheet1!$A$2:$A$5</c:f>
              <c:strCache>
                <c:ptCount val="4"/>
                <c:pt idx="0">
                  <c:v>Receita Líquida</c:v>
                </c:pt>
                <c:pt idx="1">
                  <c:v>Lucro Bruto</c:v>
                </c:pt>
                <c:pt idx="2">
                  <c:v>Resultado Op.</c:v>
                </c:pt>
                <c:pt idx="3">
                  <c:v>Resultado Líq.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617998.14</c:v>
                </c:pt>
                <c:pt idx="1">
                  <c:v>617998.14</c:v>
                </c:pt>
                <c:pt idx="2">
                  <c:v>4022.19</c:v>
                </c:pt>
                <c:pt idx="3">
                  <c:v>4022.19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1">
                  <a:solidFill>
                    <a:srgbClr val="262445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 b="1">
                <a:solidFill>
                  <a:srgbClr val="26244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EE0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6E8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Receita Bruta</c:v>
                </c:pt>
                <c:pt idx="1">
                  <c:v>(–) Deduções</c:v>
                </c:pt>
                <c:pt idx="2">
                  <c:v>Receita Líquida</c:v>
                </c:pt>
                <c:pt idx="3">
                  <c:v>Lucro Bruto</c:v>
                </c:pt>
                <c:pt idx="4">
                  <c:v>(–) Despesas</c:v>
                </c:pt>
                <c:pt idx="5">
                  <c:v>Resultado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618408.14</c:v>
                </c:pt>
                <c:pt idx="2">
                  <c:v>0</c:v>
                </c:pt>
                <c:pt idx="3">
                  <c:v>0</c:v>
                </c:pt>
                <c:pt idx="4">
                  <c:v>617998.14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</c:v>
                </c:pt>
              </c:strCache>
            </c:strRef>
          </c:tx>
          <c:dPt>
            <c:idx val="0"/>
            <c:spPr>
              <a:solidFill>
                <a:srgbClr val="04B7AF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8A13A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4B7AF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57B14A"/>
              </a:solidFill>
              <a:ln w="952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E8A13A"/>
              </a:solidFill>
              <a:ln w="952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57B14A"/>
              </a:solidFill>
              <a:ln w="9525"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262445"/>
                        </a:solidFill>
                        <a:latin typeface="Open Sans"/>
                      </a:rPr>
                      <a:t>R$ 618.408,14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FFFFFF"/>
                        </a:solidFill>
                        <a:latin typeface="Open Sans"/>
                      </a:rPr>
                      <a:t>-R$ 410,00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262445"/>
                        </a:solidFill>
                        <a:latin typeface="Open Sans"/>
                      </a:rPr>
                      <a:t>R$ 617.998,14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262445"/>
                        </a:solidFill>
                        <a:latin typeface="Open Sans"/>
                      </a:rPr>
                      <a:t>R$ 617.998,14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FFFFFF"/>
                        </a:solidFill>
                        <a:latin typeface="Open Sans"/>
                      </a:rPr>
                      <a:t>-R$ 613.975,95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262445"/>
                        </a:solidFill>
                        <a:latin typeface="Open Sans"/>
                      </a:rPr>
                      <a:t>R$ 4.022,19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Receita Bruta</c:v>
                </c:pt>
                <c:pt idx="1">
                  <c:v>(–) Deduções</c:v>
                </c:pt>
                <c:pt idx="2">
                  <c:v>Receita Líquida</c:v>
                </c:pt>
                <c:pt idx="3">
                  <c:v>Lucro Bruto</c:v>
                </c:pt>
                <c:pt idx="4">
                  <c:v>(–) Despesas</c:v>
                </c:pt>
                <c:pt idx="5">
                  <c:v>Resultado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618408.14</c:v>
                </c:pt>
                <c:pt idx="1">
                  <c:v>-410.0</c:v>
                </c:pt>
                <c:pt idx="2">
                  <c:v>617998.14</c:v>
                </c:pt>
                <c:pt idx="3">
                  <c:v>617998.14</c:v>
                </c:pt>
                <c:pt idx="4">
                  <c:v>-613975.95</c:v>
                </c:pt>
                <c:pt idx="5">
                  <c:v>4022.19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</c:v>
                </c:pt>
              </c:strCache>
            </c:strRef>
          </c:tx>
          <c:dPt>
            <c:idx val="0"/>
            <c:spPr>
              <a:solidFill>
                <a:srgbClr val="04B7AF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8A13A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4B7AF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57B14A"/>
              </a:solidFill>
              <a:ln w="952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E8A13A"/>
              </a:solidFill>
              <a:ln w="952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57B14A"/>
              </a:solidFill>
              <a:ln w="9525">
                <a:solidFill>
                  <a:srgbClr val="FFFFFF"/>
                </a:solidFill>
              </a:ln>
            </c:spPr>
          </c:dPt>
          <c:cat>
            <c:strRef>
              <c:f>Sheet1!$A$2:$A$7</c:f>
              <c:strCache>
                <c:ptCount val="6"/>
                <c:pt idx="0">
                  <c:v>Receita Bruta</c:v>
                </c:pt>
                <c:pt idx="1">
                  <c:v>(–) Deduções</c:v>
                </c:pt>
                <c:pt idx="2">
                  <c:v>Receita Líquida</c:v>
                </c:pt>
                <c:pt idx="3">
                  <c:v>Lucro Bruto</c:v>
                </c:pt>
                <c:pt idx="4">
                  <c:v>(–) Despesas</c:v>
                </c:pt>
                <c:pt idx="5">
                  <c:v>Resultado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EE0EC"/>
            </a:solidFill>
          </a:ln>
        </c:spPr>
        <c:txPr>
          <a:bodyPr/>
          <a:lstStyle/>
          <a:p>
            <a:pPr>
              <a:defRPr sz="900" b="1">
                <a:solidFill>
                  <a:srgbClr val="26244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E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6B6E8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Caixa</c:v>
                </c:pt>
              </c:strCache>
            </c:strRef>
          </c:tx>
          <c:spPr>
            <a:solidFill>
              <a:srgbClr val="322F6A"/>
            </a:solidFill>
          </c:spPr>
          <c:cat>
            <c:strRef>
              <c:f>Sheet1!$A$2:$A$8</c:f>
              <c:strCache>
                <c:ptCount val="7"/>
                <c:pt idx="0">
                  <c:v>07/2026</c:v>
                </c:pt>
                <c:pt idx="1">
                  <c:v>06/2026</c:v>
                </c:pt>
                <c:pt idx="2">
                  <c:v>05/2026</c:v>
                </c:pt>
                <c:pt idx="3">
                  <c:v>04/2026</c:v>
                </c:pt>
                <c:pt idx="4">
                  <c:v>03/2026</c:v>
                </c:pt>
                <c:pt idx="5">
                  <c:v>02/2026</c:v>
                </c:pt>
                <c:pt idx="6">
                  <c:v>01/2026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198.08</c:v>
                </c:pt>
                <c:pt idx="1">
                  <c:v>259.65</c:v>
                </c:pt>
                <c:pt idx="2">
                  <c:v>235.63</c:v>
                </c:pt>
                <c:pt idx="3">
                  <c:v>352.03</c:v>
                </c:pt>
                <c:pt idx="4">
                  <c:v>103.7</c:v>
                </c:pt>
                <c:pt idx="5">
                  <c:v>41.05</c:v>
                </c:pt>
                <c:pt idx="6">
                  <c:v>127.35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1">
                  <a:solidFill>
                    <a:srgbClr val="262445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 b="1">
                <a:solidFill>
                  <a:srgbClr val="26244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EE0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6E8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Proventos</c:v>
                </c:pt>
              </c:strCache>
            </c:strRef>
          </c:tx>
          <c:spPr>
            <a:solidFill>
              <a:srgbClr val="322F6A"/>
            </a:solidFill>
          </c:spPr>
          <c:cat>
            <c:strRef>
              <c:f>Sheet1!$A$2:$A$8</c:f>
              <c:strCache>
                <c:ptCount val="7"/>
                <c:pt idx="0">
                  <c:v>01/2026</c:v>
                </c:pt>
                <c:pt idx="1">
                  <c:v>02/2026</c:v>
                </c:pt>
                <c:pt idx="2">
                  <c:v>03/2026</c:v>
                </c:pt>
                <c:pt idx="3">
                  <c:v>04/2026</c:v>
                </c:pt>
                <c:pt idx="4">
                  <c:v>05/2026</c:v>
                </c:pt>
                <c:pt idx="5">
                  <c:v>06/2026</c:v>
                </c:pt>
                <c:pt idx="6">
                  <c:v>07/2026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11963.19</c:v>
                </c:pt>
                <c:pt idx="1">
                  <c:v>26987.96</c:v>
                </c:pt>
                <c:pt idx="2">
                  <c:v>38063.41</c:v>
                </c:pt>
                <c:pt idx="3">
                  <c:v>53629.91</c:v>
                </c:pt>
                <c:pt idx="4">
                  <c:v>69195.78</c:v>
                </c:pt>
                <c:pt idx="5">
                  <c:v>87169.19</c:v>
                </c:pt>
                <c:pt idx="6">
                  <c:v>100365.58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Encargos</c:v>
                </c:pt>
              </c:strCache>
            </c:strRef>
          </c:tx>
          <c:spPr>
            <a:solidFill>
              <a:srgbClr val="04B7AF"/>
            </a:solidFill>
          </c:spPr>
          <c:cat>
            <c:strRef>
              <c:f>Sheet1!$A$2:$A$8</c:f>
              <c:strCache>
                <c:ptCount val="7"/>
                <c:pt idx="0">
                  <c:v>01/2026</c:v>
                </c:pt>
                <c:pt idx="1">
                  <c:v>02/2026</c:v>
                </c:pt>
                <c:pt idx="2">
                  <c:v>03/2026</c:v>
                </c:pt>
                <c:pt idx="3">
                  <c:v>04/2026</c:v>
                </c:pt>
                <c:pt idx="4">
                  <c:v>05/2026</c:v>
                </c:pt>
                <c:pt idx="5">
                  <c:v>06/2026</c:v>
                </c:pt>
                <c:pt idx="6">
                  <c:v>07/2026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4952.84</c:v>
                </c:pt>
                <c:pt idx="1">
                  <c:v>10450.38</c:v>
                </c:pt>
                <c:pt idx="2">
                  <c:v>14829.88</c:v>
                </c:pt>
                <c:pt idx="3">
                  <c:v>19020.05</c:v>
                </c:pt>
                <c:pt idx="4">
                  <c:v>21198.03</c:v>
                </c:pt>
                <c:pt idx="5">
                  <c:v>24385.6</c:v>
                </c:pt>
                <c:pt idx="6">
                  <c:v>27144.06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Benefícios</c:v>
                </c:pt>
              </c:strCache>
            </c:strRef>
          </c:tx>
          <c:spPr>
            <a:solidFill>
              <a:srgbClr val="57B14A"/>
            </a:solidFill>
          </c:spPr>
          <c:cat>
            <c:strRef>
              <c:f>Sheet1!$A$2:$A$8</c:f>
              <c:strCache>
                <c:ptCount val="7"/>
                <c:pt idx="0">
                  <c:v>01/2026</c:v>
                </c:pt>
                <c:pt idx="1">
                  <c:v>02/2026</c:v>
                </c:pt>
                <c:pt idx="2">
                  <c:v>03/2026</c:v>
                </c:pt>
                <c:pt idx="3">
                  <c:v>04/2026</c:v>
                </c:pt>
                <c:pt idx="4">
                  <c:v>05/2026</c:v>
                </c:pt>
                <c:pt idx="5">
                  <c:v>06/2026</c:v>
                </c:pt>
                <c:pt idx="6">
                  <c:v>07/2026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3286.02</c:v>
                </c:pt>
                <c:pt idx="1">
                  <c:v>6597.95</c:v>
                </c:pt>
                <c:pt idx="2">
                  <c:v>10219.88</c:v>
                </c:pt>
                <c:pt idx="3">
                  <c:v>14182.81</c:v>
                </c:pt>
                <c:pt idx="4">
                  <c:v>17060.74</c:v>
                </c:pt>
                <c:pt idx="5">
                  <c:v>20453.72</c:v>
                </c:pt>
                <c:pt idx="6">
                  <c:v>23305.72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Provisões</c:v>
                </c:pt>
              </c:strCache>
            </c:strRef>
          </c:tx>
          <c:spPr>
            <a:solidFill>
              <a:srgbClr val="E8A13A"/>
            </a:solidFill>
          </c:spPr>
          <c:cat>
            <c:strRef>
              <c:f>Sheet1!$A$2:$A$8</c:f>
              <c:strCache>
                <c:ptCount val="7"/>
                <c:pt idx="0">
                  <c:v>01/2026</c:v>
                </c:pt>
                <c:pt idx="1">
                  <c:v>02/2026</c:v>
                </c:pt>
                <c:pt idx="2">
                  <c:v>03/2026</c:v>
                </c:pt>
                <c:pt idx="3">
                  <c:v>04/2026</c:v>
                </c:pt>
                <c:pt idx="4">
                  <c:v>05/2026</c:v>
                </c:pt>
                <c:pt idx="5">
                  <c:v>06/2026</c:v>
                </c:pt>
                <c:pt idx="6">
                  <c:v>07/2026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3526.31</c:v>
                </c:pt>
                <c:pt idx="1">
                  <c:v>6414.57</c:v>
                </c:pt>
                <c:pt idx="2">
                  <c:v>9686.68</c:v>
                </c:pt>
                <c:pt idx="3">
                  <c:v>10879.59</c:v>
                </c:pt>
                <c:pt idx="4">
                  <c:v>13415.76</c:v>
                </c:pt>
                <c:pt idx="5">
                  <c:v>15517.43</c:v>
                </c:pt>
                <c:pt idx="6">
                  <c:v>17603.98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1">
                  <a:solidFill>
                    <a:srgbClr val="262445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 b="1">
                <a:solidFill>
                  <a:srgbClr val="26244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EE0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6E86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2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84p8d4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743200" cy="7734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4688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Open Sans"/>
              </a:rPr>
              <a:t>RELATÓRIO GERENCIAL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260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>
                <a:solidFill>
                  <a:srgbClr val="FFFFFF"/>
                </a:solidFill>
                <a:latin typeface="Roboto"/>
              </a:rPr>
              <a:t>ASSOCIACAO COMERCIAL E EMPRESARIAL DE CATANDUVA - Matriz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343400"/>
            <a:ext cx="137160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61772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2F3F8"/>
                </a:solidFill>
                <a:latin typeface="Open Sans"/>
              </a:rPr>
              <a:t>Período:  </a:t>
            </a:r>
            <a:r>
              <a:rPr sz="1400" b="1">
                <a:solidFill>
                  <a:srgbClr val="FFFFFF"/>
                </a:solidFill>
                <a:latin typeface="Open Sans"/>
              </a:rPr>
              <a:t>01/2026 a 07/2026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17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4B7AF"/>
                </a:solidFill>
                <a:latin typeface="Open Sans"/>
              </a:rPr>
              <a:t>Informação contábil transformada em decisão.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PRINCIPAIS NÚMEROS DO PERÍODO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Visão Executiva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02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9384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Receita Líquida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58568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R$ 617.998,14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138" y="1783080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013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7882" y="1929384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Resultado Líquido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7882" y="2258568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R$ 4.022,19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3348" y="1783080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334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1092" y="1929384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Margem Líquida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1092" y="2258568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0,65%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6558" y="1783080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655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74302" y="1929384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EBITDA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4302" y="2258568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Dados insuficientes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374136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520440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EBITDA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3849624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Dados insuficientes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90138" y="3374136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9013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7882" y="3520440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Disponibilidade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7882" y="3849624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R$ 10.342,05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3348" y="3374136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334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1092" y="3520440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Ativo Total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1092" y="3849624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R$ 482.194,05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36558" y="3374136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3655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74302" y="3520440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Passivo Circulante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74302" y="3849624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-R$ 131.330,63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Valores extraídos dos documentos importados. Onde não há dado: 'Dados insuficientes'.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MARGENS E RENTABILIDADE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Resumo da Operação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03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Margem Bruta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100,00%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120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120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895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Margem Operacional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95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0,65%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548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548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323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Margem Líquida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323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0,65%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374136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520440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Despesas / Receita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849624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99,35%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Valores extraídos dos documentos importados. Onde não há dado: 'Dados insuficientes'.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COMPARATIVO DAS PRINCIPAIS LINHAS DA 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Receita e Resultado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04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66928" y="1828800"/>
          <a:ext cx="11055096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Gráfico nativo editável do PowerPoint.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DRE EM CASCATA (WATERFALL)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Formação do Resultado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05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66928" y="1828800"/>
          <a:ext cx="11055096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Cascata da DRE — gráfico nativo editável do PowerPoint.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EVOLUÇÃO MENSAL DO CAIXA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Disponibilidade de Caixa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06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66928" y="1828800"/>
          <a:ext cx="11055096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Gráfico nativo editável do PowerPoint.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ÍNDICES DE LIQUIDEZ DO PERÍODO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Liquidez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07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Liquidez Corrente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-0,13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120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120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895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Liquidez Seca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95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Dados insuficientes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548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548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323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Liquidez Imediata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323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-0,08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374136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520440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Liquidez Geral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849624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-0,13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Valores extraídos dos documentos importados. Onde não há dado: 'Dados insuficientes'.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COMPOSIÇÃO E CUSTO DE PESSOAL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Folha de Pagamento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08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82296" cy="1371600"/>
          </a:xfrm>
          <a:prstGeom prst="rect">
            <a:avLst/>
          </a:prstGeom>
          <a:solidFill>
            <a:srgbClr val="322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Custo Total da Folha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R$ 709.665,87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120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120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895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Proventos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95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R$ 448.668,84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548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548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323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Encargos Sociais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323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R$ 165.890,19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374136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520440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Benefícios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849624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R$ 95.106,84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Valores extraídos dos documentos importados. Onde não há dado: 'Dados insuficientes'.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COMPOSIÇÃO MENSAL DA FOLHA DE PAGAMENTO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Evolução da Folha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09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66928" y="1828800"/>
          <a:ext cx="11055096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Gráfico nativo editável do PowerPoint.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DEMONSTRAÇÃO DO RESULTADO — PADRÃO FELCONT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DRE Gerencial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10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83080"/>
          <a:ext cx="11055096" cy="4242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6720"/>
                <a:gridCol w="3008376"/>
              </a:tblGrid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CONTA</a:t>
                      </a:r>
                    </a:p>
                  </a:txBody>
                  <a:tcPr anchor="ctr" marL="109728" marR="109728" marT="18288" marB="18288">
                    <a:solidFill>
                      <a:srgbClr val="322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VALOR (R$)</a:t>
                      </a:r>
                    </a:p>
                  </a:txBody>
                  <a:tcPr anchor="ctr" marL="109728" marR="109728" marT="18288" marB="18288">
                    <a:solidFill>
                      <a:srgbClr val="322F6A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445"/>
                          </a:solidFill>
                          <a:latin typeface="Open Sans"/>
                        </a:rPr>
                        <a:t>Receita Operacional Bruta</a:t>
                      </a:r>
                    </a:p>
                  </a:txBody>
                  <a:tcPr anchor="ctr" marL="109728" marR="109728" marT="18288" marB="18288">
                    <a:solidFill>
                      <a:srgbClr val="F2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62445"/>
                          </a:solidFill>
                          <a:latin typeface="Open Sans"/>
                        </a:rPr>
                        <a:t>R$ 618.408,14</a:t>
                      </a:r>
                    </a:p>
                  </a:txBody>
                  <a:tcPr anchor="ctr" marL="109728" marR="109728" marT="18288" marB="18288">
                    <a:solidFill>
                      <a:srgbClr val="F2F3F8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445"/>
                          </a:solidFill>
                          <a:latin typeface="Open Sans"/>
                        </a:rPr>
                        <a:t>(–) Deduções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D6453F"/>
                          </a:solidFill>
                          <a:latin typeface="Open Sans"/>
                        </a:rPr>
                        <a:t>-R$ 410,00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(=) Receita Operacional Líquida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R$ 617.998,14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(=) Lucro Bruto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R$ 617.998,14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445"/>
                          </a:solidFill>
                          <a:latin typeface="Open Sans"/>
                        </a:rPr>
                        <a:t>(–) Despesas Operacionais</a:t>
                      </a:r>
                    </a:p>
                  </a:txBody>
                  <a:tcPr anchor="ctr" marL="109728" marR="109728" marT="18288" marB="18288">
                    <a:solidFill>
                      <a:srgbClr val="F2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D6453F"/>
                          </a:solidFill>
                          <a:latin typeface="Open Sans"/>
                        </a:rPr>
                        <a:t>-R$ 613.975,95</a:t>
                      </a:r>
                    </a:p>
                  </a:txBody>
                  <a:tcPr anchor="ctr" marL="109728" marR="109728" marT="18288" marB="18288">
                    <a:solidFill>
                      <a:srgbClr val="F2F3F8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445"/>
                          </a:solidFill>
                          <a:latin typeface="Open Sans"/>
                        </a:rPr>
                        <a:t>(+) Receitas Financeiras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62445"/>
                          </a:solidFill>
                          <a:latin typeface="Open Sans"/>
                        </a:rPr>
                        <a:t>R$ 49.756,09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(=) Resultado Operacional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R$ 4.022,19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445"/>
                          </a:solidFill>
                          <a:latin typeface="Open Sans"/>
                        </a:rPr>
                        <a:t>(=) Resultado antes dos Tributos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62445"/>
                          </a:solidFill>
                          <a:latin typeface="Open Sans"/>
                        </a:rPr>
                        <a:t>R$ 4.022,19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</a:tr>
              <a:tr h="424287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(=) Resultado Líquido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R$ 4.022,19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DRE reconstruída no padrão FELCONT a partir do documento importado (tabela editável).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ESTRUTURA PATRIMONIAL — PADRÃO FELCONT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Balanço Patrimonial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11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5394960" cy="384048"/>
          </a:xfrm>
          <a:prstGeom prst="roundRect">
            <a:avLst>
              <a:gd name="adj" fmla="val 10000"/>
            </a:avLst>
          </a:prstGeom>
          <a:solidFill>
            <a:srgbClr val="322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83080"/>
            <a:ext cx="5029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Open Sans"/>
              </a:rPr>
              <a:t>ATIVO (Aplicações)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860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322F6A"/>
                </a:solidFill>
                <a:latin typeface="Open Sans"/>
              </a:rPr>
              <a:t>ATIVO CIRCULANTE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57860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1.1.04.021.008-INSS a Recuperar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2578608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R$ 5.911,49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85292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1.1.04.021.099-Outros Impostos a Recuperar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285292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R$ 647,25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12724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1.1.01.002.001-Banco Sicredi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312724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R$ 9.461,45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40156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1.1.01.001.001-Caixa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340156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R$ 198,08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67588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1.1.04.015.002-Adiantamentos de Férias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367588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R$ 0,00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95020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1.1.01.002.001-Cresol-Cooperativa de Crédito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395020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D6453F"/>
                </a:solidFill>
                <a:latin typeface="Open Sans"/>
              </a:rPr>
              <a:t>-R$ 0,96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422452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Total Ativo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4528" y="422452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R$ 16.900,79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498847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322F6A"/>
                </a:solidFill>
                <a:latin typeface="Open Sans"/>
              </a:rPr>
              <a:t>ATIVO NÃO CIRCULANTE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79145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1.1.01.003.001-Cresol-Cooperativa de Crédito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79145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R$ 68.312,34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" y="506577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1.1.01.003.001-Banco Sicredi Invest Flex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506577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R$ 52.416,14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" y="534009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1.1.01.003.001-Banco Sicredi Invest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24528" y="534009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R$ 152.415,09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" y="561441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1.1.01.003.001-Banco do Brasil S/A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561441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R$ 192.149,69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" y="588873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Total Ativo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4528" y="588873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R$ 465.293,26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45352" y="1783080"/>
            <a:ext cx="5394960" cy="384048"/>
          </a:xfrm>
          <a:prstGeom prst="roundRect">
            <a:avLst>
              <a:gd name="adj" fmla="val 10000"/>
            </a:avLst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1783080"/>
            <a:ext cx="5029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Open Sans"/>
              </a:rPr>
              <a:t>PASSIVO + PL (Origens)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22860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4B7AF"/>
                </a:solidFill>
                <a:latin typeface="Open Sans"/>
              </a:rPr>
              <a:t>PASSIVO CIRCULANTE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3952" y="257860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2.1.03.001.001-Fornecedores Diversos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02952" y="2578608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D6453F"/>
                </a:solidFill>
                <a:latin typeface="Open Sans"/>
              </a:rPr>
              <a:t>-R$ 87.477,94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3952" y="285292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2.1.07.001.001-Salários e Ordenados a Pagar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2952" y="285292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D6453F"/>
                </a:solidFill>
                <a:latin typeface="Open Sans"/>
              </a:rPr>
              <a:t>-R$ 5.227,51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3952" y="312724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2.1.07.003.001-INSS a Recolher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2952" y="312724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D6453F"/>
                </a:solidFill>
                <a:latin typeface="Open Sans"/>
              </a:rPr>
              <a:t>-R$ 3.516,31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3952" y="340156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2.1.05.003.001-Contribuições Retidas a Recolher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02952" y="340156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D6453F"/>
                </a:solidFill>
                <a:latin typeface="Open Sans"/>
              </a:rPr>
              <a:t>-R$ 711,20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3952" y="367588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2.1.07.003.006-Pis s/ Folha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02952" y="367588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D6453F"/>
                </a:solidFill>
                <a:latin typeface="Open Sans"/>
              </a:rPr>
              <a:t>-R$ 246,87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3952" y="395020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2.1.05.001.001-IRRF a Recolher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02952" y="395020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D6453F"/>
                </a:solidFill>
                <a:latin typeface="Open Sans"/>
              </a:rPr>
              <a:t>-R$ 109,22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3952" y="422452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Total Passivo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02952" y="422452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D6453F"/>
                </a:solidFill>
                <a:latin typeface="Open Sans"/>
              </a:rPr>
              <a:t>-R$ 131.330,63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36792" y="4498847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4B7AF"/>
                </a:solidFill>
                <a:latin typeface="Open Sans"/>
              </a:rPr>
              <a:t>PASSIVO NÃO CIRCULANTE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3952" y="479145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2.2.01.003.001.001-Parcelamento INSS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02952" y="479145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R$ 0,00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73952" y="506577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Total Passivo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02952" y="506577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R$ 0,00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36792" y="5340095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4B7AF"/>
                </a:solidFill>
                <a:latin typeface="Open Sans"/>
              </a:rPr>
              <a:t>PATRIMÔNIO LÍQUIDO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Balanço reorganizado no padrão FELCONT — nomenclatura original preservada.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FELCONT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Pontos de Atenção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12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11055096" cy="574547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100584" cy="574547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1109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A13A"/>
                </a:solidFill>
                <a:latin typeface="Open Sans"/>
              </a:rPr>
              <a:t>PONTO DE ATENÇÃO  ·  </a:t>
            </a:r>
            <a:r>
              <a:rPr sz="1200" b="1">
                <a:solidFill>
                  <a:srgbClr val="262445"/>
                </a:solidFill>
                <a:latin typeface="Open Sans"/>
              </a:rPr>
              <a:t>Margem líquida muito baixa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10424160" cy="117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A Margem Líquida de 0,65% mostra que apenas uma fração pequena da receita foi convertida em resultado. Com despesas representando 99,35% da receita, qualquer oscilação desfavorável em gastos ou faturamento pode eliminar o lucro observado.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22219"/>
            <a:ext cx="11055096" cy="574547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522219"/>
            <a:ext cx="100584" cy="574547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65023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A13A"/>
                </a:solidFill>
                <a:latin typeface="Open Sans"/>
              </a:rPr>
              <a:t>PONTO DE ATENÇÃO  ·  </a:t>
            </a:r>
            <a:r>
              <a:rPr sz="1200" b="1">
                <a:solidFill>
                  <a:srgbClr val="262445"/>
                </a:solidFill>
                <a:latin typeface="Open Sans"/>
              </a:rPr>
              <a:t>Estrutura de custos e despesas consome quase toda a receita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979419"/>
            <a:ext cx="10424160" cy="117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A relação Despesas / Receita em 99,35% indica elevada compressão do resultado. Como o Resultado Operacional e o Resultado Líquido foram de R$ 4.022,19, a geração de lucro depende de controle muito rigoroso sobre despesas.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61360"/>
            <a:ext cx="11055096" cy="574547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261360"/>
            <a:ext cx="100584" cy="574547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389376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A13A"/>
                </a:solidFill>
                <a:latin typeface="Open Sans"/>
              </a:rPr>
              <a:t>PONTO DE ATENÇÃO  ·  </a:t>
            </a:r>
            <a:r>
              <a:rPr sz="1200" b="1">
                <a:solidFill>
                  <a:srgbClr val="262445"/>
                </a:solidFill>
                <a:latin typeface="Open Sans"/>
              </a:rPr>
              <a:t>Margem bruta de 100,00% requer conciliação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18560"/>
            <a:ext cx="10424160" cy="117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A Margem Bruta informada em 100,00%, com lucro bruto de R$ 617.998,14 igual à Receita Líquida de R$ 617.998,14 e custos não informados, indica ausência de custos registrados ou classificação incompleta. Isso exige conciliação para confirmar se os custos estão corretamente apropriados.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000499"/>
            <a:ext cx="11055096" cy="574547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000499"/>
            <a:ext cx="100584" cy="574547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2851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A13A"/>
                </a:solidFill>
                <a:latin typeface="Open Sans"/>
              </a:rPr>
              <a:t>RISCO  ·  </a:t>
            </a:r>
            <a:r>
              <a:rPr sz="1200" b="1">
                <a:solidFill>
                  <a:srgbClr val="262445"/>
                </a:solidFill>
                <a:latin typeface="Open Sans"/>
              </a:rPr>
              <a:t>Saldos invertidos no passivo circulante e nos índices de liquidez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457699"/>
            <a:ext cx="10424160" cy="117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O Passivo Circulante foi apresentado em -R$ 131.330,63, com Liquidez Corrente de -0,13, Liquidez Imediata de -0,08 e Liquidez Geral de -0,13. Esses sinais sugerem saldo invertido ou classificação contábil inconsistente, o que compromete a leitura da capacidade de pagamento de curto prazo e deve ser conciliado.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739639"/>
            <a:ext cx="11055096" cy="574547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739639"/>
            <a:ext cx="100584" cy="574547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86765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A13A"/>
                </a:solidFill>
                <a:latin typeface="Open Sans"/>
              </a:rPr>
              <a:t>RISCO  ·  </a:t>
            </a:r>
            <a:r>
              <a:rPr sz="1200" b="1">
                <a:solidFill>
                  <a:srgbClr val="262445"/>
                </a:solidFill>
                <a:latin typeface="Open Sans"/>
              </a:rPr>
              <a:t>Inconsistência na equação patrimonial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196839"/>
            <a:ext cx="10424160" cy="117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A validação contábil apontou alerta em 'Ativo = Passivo + Patrimônio Líquido': Ativo Total de R$ 482.194,05 versus Passivo + PL encontrado em -R$ 131.330,63, além de Patrimônio Líquido sem informação. Com essa inconsistência, a análise patrimonial e de solvência fica limitada até a revisão dos saldos.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478780"/>
            <a:ext cx="11055096" cy="574547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5478780"/>
            <a:ext cx="100584" cy="574547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60679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A13A"/>
                </a:solidFill>
                <a:latin typeface="Open Sans"/>
              </a:rPr>
              <a:t>PONTO DE ATENÇÃO  ·  </a:t>
            </a:r>
            <a:r>
              <a:rPr sz="1200" b="1">
                <a:solidFill>
                  <a:srgbClr val="262445"/>
                </a:solidFill>
                <a:latin typeface="Open Sans"/>
              </a:rPr>
              <a:t>Disponibilidade reduzida frente ao porte da operação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935980"/>
            <a:ext cx="10424160" cy="117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A disponibilidade de R$ 10.342,05 representa valor baixo em relação à Receita Líquida acumulada de R$ 617.998,14. Mesmo sem conclusão definitiva sobre liquidez por conta das inconsistências no passivo, o caixa disponível sugere necessidade de monitoramento próximo do fluxo financeiro.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Conclusões baseadas exclusivamente nos números importados.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FELCONT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Recomendações FELCONT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13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11055096" cy="574547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100584" cy="574547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1109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Conciliar passivo circulante e índices de liquidez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10424160" cy="117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Revisar a composição do Passivo Circulante de -R$ 131.330,63 e as contas que alimentam os índices de liquidez negativos, verificando saldos invertidos, reclassificações e lançamentos compensatórios indevidos. Sem essa conciliação, a leitura de solvência de curto prazo permanece distorcida.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22219"/>
            <a:ext cx="11055096" cy="574547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522219"/>
            <a:ext cx="100584" cy="574547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65023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Validar a equação patrimonial e apurar o Patrimônio Líquido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979419"/>
            <a:ext cx="10424160" cy="117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Reprocessar a estrutura patrimonial para assegurar aderência entre Ativo Total de R$ 482.194,05 e a soma de passivos e patrimônio líquido. A ausência do Patrimônio Líquido e o alerta na validação impedem diagnóstico completo da estrutura de capital.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61360"/>
            <a:ext cx="11055096" cy="574547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261360"/>
            <a:ext cx="100584" cy="574547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389376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Revisar apropriação de custos e despesas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18560"/>
            <a:ext cx="10424160" cy="117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Verificar se existem custos não registrados ou classificados como despesas operacionais, já que a Margem Bruta está em 100,00% e os custos não foram informados. A correta segregação entre custos e despesas melhora a leitura de rentabilidade e a gestão operacional.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000499"/>
            <a:ext cx="11055096" cy="574547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000499"/>
            <a:ext cx="100584" cy="574547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2851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Atuar na redução de despesas operacionais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457699"/>
            <a:ext cx="10424160" cy="117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Como as despesas consomem 99,35% da receita e a margem líquida é de 0,65%, priorizar revisão das principais rubricas de despesas para ampliar folga operacional. O objetivo é reduzir a dependência de um lucro muito estreito.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739639"/>
            <a:ext cx="11055096" cy="574547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739639"/>
            <a:ext cx="100584" cy="574547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86765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Fortalecer o acompanhamento de caixa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196839"/>
            <a:ext cx="10424160" cy="117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Monitorar semanalmente entradas, saídas e saldo disponível, considerando disponibilidade de R$ 10.342,05 frente ao volume de Receita Líquida de R$ 617.998,14. O acompanhamento deve focar previsibilidade de curto prazo até a regularização dos saldos patrimoniais.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478780"/>
            <a:ext cx="11055096" cy="574547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5478780"/>
            <a:ext cx="100584" cy="574547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60679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Completar a base de indicadores gerenciais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935980"/>
            <a:ext cx="10424160" cy="117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Estruturar a informação necessária para apuração de EBITDA, EBITDA %, Liquidez Seca e Patrimônio Líquido. Com os dados completos e conciliados, a gestão terá visão mais consistente de geração operacional, liquidez e estrutura patrimonial.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Conclusões baseadas exclusivamente nos números importados.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2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84p8d4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2560320" cy="7218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8288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4B7AF"/>
                </a:solidFill>
                <a:latin typeface="Open Sans"/>
              </a:rPr>
              <a:t>CONCLUSÃO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106070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Roboto"/>
              </a:rPr>
              <a:t>No período de janeiro a julho de 2026, a ACE FELCONT apresentou Receita Líquida de R$ 617.998,14 e Resultado Líquido positivo de R$ 4.022,19, com Margem Líquida de 0,65%. Apesar do resultado positivo, a rentabilidade é bastante estreita, com despesas equivalentes a 99,35% da receita. Há pontos relevantes de conciliação nas demonstrações: Passivo Circulante negativo em -R$ 131.330,63, índices de liquidez também negativos e validação contábil com alerta na igualdade entre Ativo e Passivo + Patrimônio Líquido. A disponibilidade de R$ 10.342,05 é baixa frente ao volume operacional, indicando necessidade de acompanhamento de caixa e revisão das classificações contábeis.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93776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3E3A82"/>
          </a:solidFill>
          <a:ln w="12700">
            <a:solidFill>
              <a:srgbClr val="04B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937760"/>
            <a:ext cx="2514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Roboto"/>
              </a:rPr>
              <a:t>CONCILIAR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493776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3E3A82"/>
          </a:solidFill>
          <a:ln w="12700">
            <a:solidFill>
              <a:srgbClr val="04B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4937760"/>
            <a:ext cx="2514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Roboto"/>
              </a:rPr>
              <a:t>CORRIGIR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216" y="493776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3E3A82"/>
          </a:solidFill>
          <a:ln w="12700">
            <a:solidFill>
              <a:srgbClr val="04B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4937760"/>
            <a:ext cx="2514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Roboto"/>
              </a:rPr>
              <a:t>VALIDAR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07424" y="493776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3E3A82"/>
          </a:solidFill>
          <a:ln w="12700">
            <a:solidFill>
              <a:srgbClr val="04B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07424" y="4937760"/>
            <a:ext cx="2514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Roboto"/>
              </a:rPr>
              <a:t>ANALISAR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093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FELCONT — Contabilidade, Finanças e Auditoria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