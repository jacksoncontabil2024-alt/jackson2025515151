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57B14A"/>
              </a:solidFill>
            </c:spPr>
          </c:dPt>
          <c:dPt>
            <c:idx val="2"/>
            <c:spPr>
              <a:solidFill>
                <a:srgbClr val="322F6A"/>
              </a:solidFill>
            </c:spPr>
          </c:dPt>
          <c:dPt>
            <c:idx val="3"/>
            <c:spPr>
              <a:solidFill>
                <a:srgbClr val="E8A13A"/>
              </a:solidFill>
            </c:spPr>
          </c:dPt>
          <c:cat>
            <c:strRef>
              <c:f>Sheet1!$A$2:$A$5</c:f>
              <c:strCache>
                <c:ptCount val="4"/>
                <c:pt idx="0">
                  <c:v>Receita Líquida</c:v>
                </c:pt>
                <c:pt idx="1">
                  <c:v>Lucro Bruto</c:v>
                </c:pt>
                <c:pt idx="2">
                  <c:v>Resultado Op.</c:v>
                </c:pt>
                <c:pt idx="3">
                  <c:v>Resultado Líq.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495774.18</c:v>
                </c:pt>
                <c:pt idx="1">
                  <c:v>286032.19</c:v>
                </c:pt>
                <c:pt idx="2">
                  <c:v>-176122.97</c:v>
                </c:pt>
                <c:pt idx="3">
                  <c:v>-176122.97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(–) Custos</c:v>
                </c:pt>
                <c:pt idx="4">
                  <c:v>Lucro Bruto</c:v>
                </c:pt>
                <c:pt idx="5">
                  <c:v>(–) Despesas</c:v>
                </c:pt>
                <c:pt idx="6">
                  <c:v>Resultado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534651.35</c:v>
                </c:pt>
                <c:pt idx="2">
                  <c:v>0</c:v>
                </c:pt>
                <c:pt idx="3">
                  <c:v>495774.18</c:v>
                </c:pt>
                <c:pt idx="4">
                  <c:v>0</c:v>
                </c:pt>
                <c:pt idx="5">
                  <c:v>286032.19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R$ 534.651,35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-R$ 38.877,17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R$ 495.774,18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-R$ 209.741,99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R$ 286.032,19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-R$ 462.155,16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-R$ 176.122,97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(–) Custos</c:v>
                </c:pt>
                <c:pt idx="4">
                  <c:v>Lucro Bruto</c:v>
                </c:pt>
                <c:pt idx="5">
                  <c:v>(–) Despesas</c:v>
                </c:pt>
                <c:pt idx="6">
                  <c:v>Resultado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534651.35</c:v>
                </c:pt>
                <c:pt idx="1">
                  <c:v>-38877.169999999984</c:v>
                </c:pt>
                <c:pt idx="2">
                  <c:v>495774.18</c:v>
                </c:pt>
                <c:pt idx="3">
                  <c:v>-209741.99</c:v>
                </c:pt>
                <c:pt idx="4">
                  <c:v>286032.19</c:v>
                </c:pt>
                <c:pt idx="5">
                  <c:v>-462155.16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(–) Custos</c:v>
                </c:pt>
                <c:pt idx="4">
                  <c:v>Lucro Bruto</c:v>
                </c:pt>
                <c:pt idx="5">
                  <c:v>(–) Despesas</c:v>
                </c:pt>
                <c:pt idx="6">
                  <c:v>Resultado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iep6p7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773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HIERARCA UNIFORMES LTDA - MATRIZ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31/08/2026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R$ 495.774,18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-R$ 176.122,97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-35,52%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R$ 18.777,96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R$ 557.908,67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R$ 1.064.486,81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MARGENS E RENTABILIDADE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Resumo da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57,69%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-35,52%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-35,52%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Despesas / Receita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93,22%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COMPARATIVO DAS PRINCIPAIS LINHAS DA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Receita e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DRE EM CASCATA (WATERFALL)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Cascata da DRE — 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DEMONSTRAÇÃO DO RESULTADO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DRE Gerencial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55096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/>
                <a:gridCol w="3008376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CONTA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VALOR (R$)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Receita Operacional Bruta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R$ 534.651,35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Deduções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-R$ 38.877,17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Receita Operacional Líquida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R$ 495.774,18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Custos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-R$ 209.741,99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Lucro Bruto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R$ 286.032,19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Despesas Operacionais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-R$ 462.155,16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Operacional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-R$ 176.122,97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(=) Resultado antes dos Tributos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-R$ 176.122,97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Líquido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-R$ 176.122,97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DRE reconstruída no padrão FELCONT a partir do documento importado (tabela editável).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DISPONÍVEL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R$ 18.777,96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NUMERÁRIOS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R$ 2.161,38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DEPÓSITOS BANCÁRIOS A VISTA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R$ 16.616,58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R$ 64.516,70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DUPLICATAS A RECEBER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R$ 64.516,70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OUTROS CRÉDITOS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R$ 136.332,47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IMOBILIZADO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R$ 421.576,20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EM OPERAÇÃO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R$ 421.576,20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ATIVO COMPENSATÓRIO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DEMONSTRAÇÕES DIVERSAS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88873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588873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R$ 421.576,20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R$ 5.656,21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 NACIONAIS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R$ 5.656,21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R$ 6.481,52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IMPOSTOS E CONTRIBUIÇÕES A RECOLHER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R$ 6.481,52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TRABALHISTAS E PRIVIDENCIÁRIAS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R$ 99.495,77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COM O PESSOAL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R$ 15.798,65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R$ 1.064.486,81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A LONGO PRAZO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2952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R$ 77.770,08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3952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INSTITUIÇÕES FINANCEIRAS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2952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R$ 77.770,08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FINANCIAMENTOS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02952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R$ 77.770,08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3952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02952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R$ 77.770,08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588873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61813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CAPITAL SOCIAL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2952" y="618134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R$ 200.000,00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645566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CAPITAL SUBSCRITO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2952" y="64556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R$ 200.000,00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67299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RESERVAS DE LUCROS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02952" y="672998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R$ 760.200,02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3952" y="700430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ACUMULADOS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700430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-R$ 1.544.548,24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727862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ACUMULADOS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2952" y="72786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-R$ 1.368.320,58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75529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DO EXERCÍCIO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02952" y="755294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-R$ 176.227,66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3952" y="782726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Patrimônio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2952" y="78272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6453F"/>
                </a:solidFill>
                <a:latin typeface="Open Sans"/>
              </a:rPr>
              <a:t>-R$ 584.348,22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09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Despesas operacionais acima da capacidade de absorção da receita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As despesas operacionais somaram R$ 462.155,16, equivalentes a 93,22% da receita líquida. Como o lucro bruto foi de R$ 286.032,19, essas despesas superaram integralmente a contribuição operacional e levaram o resultado operacional para -R$ 176.122,97.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178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9178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980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Prejuízo relevante no período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4898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resultado líquido foi negativo em R$ 176.122,97, com margem líquida de -35,52%. Como a margem operacional também foi de -35,52%, o prejuízo está concentrado na operação, sem evidência, nos dados apresentados, de compensação por resultado financeiro ou efeitos não operacionais.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050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050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Estrutura de curto prazo altamente pressionada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5770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passivo circulante de R$ 1.064.486,81 contrasta com ativo circulante de R$ 136.332,47 e disponibilidade de apenas R$ 18.777,96. Os índices de liquidez corrente de 0,13, seca de 0,08 e imediata de 0,02 indicam baixa capacidade de cobertura das obrigações de curto prazo com os ativos realizáveis e caixa disponíveis.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0920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0920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722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Patrimônio líquido negativo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6640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patrimônio líquido está em -R$ 584.348,22, enquanto o ativo total soma R$ 557.908,67. Embora a validação contábil esteja consistente, esse saldo invertido exige conciliação e monitoramento, pois indica que o volume de obrigações supera os ativos registrados.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Revisar e priorizar despesas operacionais por centro de custo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Mapear os R$ 462.155,16 de despesas operacionais e classificar por essencialidade, recorrência e impacto comercial. O foco deve ser reduzir o peso atual de 93,22% da receita, preservando a margem bruta de 57,69% já obtida pela operação.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221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2221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5023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Montar plano de curto prazo para liquidez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941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Diante da liquidez corrente de 0,13 e disponibilidade de R$ 18.777,96 frente ao passivo circulante de R$ 1.064.486,81, estruturar fluxo de caixa de curto prazo com acompanhamento semanal, priorização de pagamentos críticos e projeção de vencimentos para evitar agravamento da pressão financeira.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6136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6136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8937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Renegociar perfil do passivo circulante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1856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Avaliar com credores a readequação de parte das obrigações de curto prazo, considerando que o passivo circulante é muito superior ao ativo circulante. O objetivo é reduzir a concentração imediata de vencimentos e melhorar a condição de capital de giro.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00049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00049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saldos patrimoniais sensíveis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5769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Manter conciliação detalhada dos grupos que impactam o patrimônio líquido negativo de -R$ 584.348,22 e a baixa liquidez, especialmente contas de obrigações, disponibilidades e demais saldos circulantes. A consistência contábil foi validada, mas a materialidade dos saldos exige revisão contínua para suporte à tomada de decisão.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3963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3963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6765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Definir meta objetiva de reversão operacional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9683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Estabelecer meta de redução gradual do prejuízo operacional de -R$ 176.122,97 com acompanhamento mensal da relação despesas/receita. Como a margem operacional e a margem líquida estão ambas em -35,52%, a melhoria precisa vir prioritariamente da eficiência operacional.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787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47878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067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Avaliar necessidade de reforço de capital ou recomposição financeira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359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Considerar alternativas de recomposição financeira, dado o patrimônio líquido negativo e a liquidez geral de 0,12. A decisão deve ser baseada na capacidade de reduzir despesas, renegociar passivos e sustentar a operação até a recuperação do resultado.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iep6p7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21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No período de janeiro a agosto, a HIERARCA apresentou receita líquida de R$ 495.774,18, porém com resultado líquido negativo de R$ 176.122,97 e margem líquida de -35,52%. A operação mostra margem bruta de 57,69%, indicando capacidade de geração antes das despesas operacionais, mas as despesas consumiram 93,22% da receita, levando o resultado operacional ao mesmo patamar negativo da margem líquida. Na estrutura patrimonial, a liquidez é muito pressionada, com liquidez corrente de 0,13, seca de 0,08, imediata de 0,02 e geral de 0,12. O passivo circulante de R$ 1.064.486,81 supera amplamente o ativo total de R$ 557.908,67, e o patrimônio líquido está negativo em R$ 584.348,22, situação que exige acompanhamento próximo e conciliação contínua dos saldos.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