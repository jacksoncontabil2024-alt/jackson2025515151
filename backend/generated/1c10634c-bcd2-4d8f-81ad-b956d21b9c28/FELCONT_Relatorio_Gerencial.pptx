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</c:spPr>
          </c:dPt>
          <c:dPt>
            <c:idx val="1"/>
            <c:spPr>
              <a:solidFill>
                <a:srgbClr val="57B14A"/>
              </a:solidFill>
            </c:spPr>
          </c:dPt>
          <c:dPt>
            <c:idx val="2"/>
            <c:spPr>
              <a:solidFill>
                <a:srgbClr val="322F6A"/>
              </a:solidFill>
            </c:spPr>
          </c:dPt>
          <c:dPt>
            <c:idx val="3"/>
            <c:spPr>
              <a:solidFill>
                <a:srgbClr val="E8A13A"/>
              </a:solidFill>
            </c:spPr>
          </c:dPt>
          <c:cat>
            <c:strRef>
              <c:f>Sheet1!$A$2:$A$5</c:f>
              <c:strCache>
                <c:ptCount val="4"/>
                <c:pt idx="0">
                  <c:v>Receita Líquida</c:v>
                </c:pt>
                <c:pt idx="1">
                  <c:v>Lucro Bruto</c:v>
                </c:pt>
                <c:pt idx="2">
                  <c:v>Resultado Op.</c:v>
                </c:pt>
                <c:pt idx="3">
                  <c:v>Resultado Líq.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1320956.09</c:v>
                </c:pt>
                <c:pt idx="1">
                  <c:v>1320956.09</c:v>
                </c:pt>
                <c:pt idx="2">
                  <c:v>634306.92</c:v>
                </c:pt>
                <c:pt idx="3">
                  <c:v>634306.92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1346115.89</c:v>
                </c:pt>
                <c:pt idx="2">
                  <c:v>0</c:v>
                </c:pt>
                <c:pt idx="3">
                  <c:v>0</c:v>
                </c:pt>
                <c:pt idx="4">
                  <c:v>1320956.09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R$ 1.346.115,89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-R$ 25.159,80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R$ 1.320.956,09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R$ 1.320.956,09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-R$ 686.649,17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R$ 634.306,92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1346115.89</c:v>
                </c:pt>
                <c:pt idx="1">
                  <c:v>-25159.800000000047</c:v>
                </c:pt>
                <c:pt idx="2">
                  <c:v>1320956.09</c:v>
                </c:pt>
                <c:pt idx="3">
                  <c:v>1320956.09</c:v>
                </c:pt>
                <c:pt idx="4">
                  <c:v>-686649.17</c:v>
                </c:pt>
                <c:pt idx="5">
                  <c:v>634306.92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Caixa</c:v>
                </c:pt>
              </c:strCache>
            </c:strRef>
          </c:tx>
          <c:spPr>
            <a:solidFill>
              <a:srgbClr val="322F6A"/>
            </a:solidFill>
          </c:spPr>
          <c:cat>
            <c:strRef>
              <c:f>Sheet1!$A$2:$A$2</c:f>
              <c:strCache>
                <c:ptCount val="1"/>
                <c:pt idx="0">
                  <c:v>01/2026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790592.51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n6ihuk1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773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Open Sans"/>
              </a:rPr>
              <a:t>RELATÓRIO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Roboto"/>
              </a:rPr>
              <a:t>ASSOCIACAO COMERCIAL E EMPRESARIAL DE CATANDUVA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01/01/2025 a 31/12/2025; 31/12/2025;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PRINCIPAIS NÚMEROS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Visão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R$ 1.320.956,09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13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88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Resultado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R$ 634.306,92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334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48,02%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55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430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430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13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9013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788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Disponibilidade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R$ 778.077,34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09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Ativo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109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R$ 1.386.506,55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655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55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430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430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R$ 45.622,71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MARGENS E RENTABILIDADE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Resumo da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100,00%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48,02%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48,02%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Despesas / Receita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51,98%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COMPARATIVO DAS PRINCIPAIS LINHAS DA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Receita e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DRE EM CASCATA (WATERFALL)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Cascata da DRE — 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EVOLUÇÃO MENSAL DO CAIXA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Disponibilidade de Caixa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ÍNDICES DE LIQUIDEZ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Liquidez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17,23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Seca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Imediata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17,05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17,04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COMPOSIÇÃO E CUSTO DE PESSOAL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Folha de Pagamento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Proventos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R$ 14.268,37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Encargos Sociais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R$ 4.802,66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Benefícios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R$ 2.852,00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DEMONSTRAÇÃO DO RESULTADO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DRE Gerencial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09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55096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0"/>
                <a:gridCol w="3008376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CONTA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VALOR (R$)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Receita Operacional Bruta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R$ 1.346.115,89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Deduções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-R$ 25.159,80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Receita Operacional Líquida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R$ 1.320.956,09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Lucro Bruto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R$ 1.320.956,09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Despesas Operacionais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-R$ 686.649,17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(+) Receitas Financeiras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R$ 26.177,74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Operacional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R$ 634.306,92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(=) Resultado antes dos Tributos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R$ 634.306,92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Líquido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R$ 634.306,92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DRE reconstruída no padrão FELCONT a partir do documento importado (tabela editável).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ESTRUTURA PATRIMONIAL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Balanço Patrimonial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10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ATIVO (Aplicações)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CIRCULANTE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DISPONÍVEL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R$ 778.077,34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OUTROS CRÉDITOS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R$ 8.182,25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BENS NUMERÁRIOS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R$ 331,35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DEPÓSITOS BANCÁRIOS A VISTA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R$ 23.238,07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APLICAÇÕES DE LIQUIDEZ IMEDIATA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R$ 754.507,92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ADIANTAMENTOS A FUNCIONARIOS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R$ 1.623,51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R$ 786.259,59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NÃO CIRCULANTE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INVESTIMENTOS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R$ 340,00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APLICAÇÕES FINANCEIRAS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R$ 340,00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IMOBILIZADO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R$ 599.906,96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61441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IMÓVEIS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5614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R$ 475.594,26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88873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BENS EM OPERAÇÃO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588873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R$ 187.573,49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61630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(-) DEPRECIAÇÃO/AMORTIZAÇÃO/EXAUSTÃO ACUMULADA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61630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-R$ 63.260,79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64373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64373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R$ 600.246,96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PASSIVO + PL (Origens)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CIRCULANTE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R$ 13.768,15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 NACIONAIS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R$ 13.768,15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R$ 852,82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IMPOSTOS E CONTRIBUIÇÕES A RECOLHER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R$ 423,35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TRIBUTOS RETIDOS A RECOLHER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R$ 429,47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TRABALHISTAS E PRIVIDENCIÁRIAS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2952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R$ 31.001,74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2952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R$ 45.622,71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6792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NÃO CIRCULANTE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A LONGO PRAZO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02952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R$ 532,27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3952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02952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R$ 532,27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IMPÓSTOS E CONTRIBUIÇÕES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2952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R$ 532,27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3952" y="561441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02952" y="5614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R$ 532,27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36792" y="588873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PATRIMÔNIO LÍQUIDO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61813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PATRIMÔNIO LÍQUIDO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02952" y="618134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3952" y="645566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LUCROS E PREJUÍZOS ACUMULADOS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645566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67299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LUCROS E PREJUÍZOS DO EXERCÍCIO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2952" y="672998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3952" y="700430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PATRIMÔNIO SOCIAL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02952" y="700430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3952" y="727862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OUTRAS CONTAS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02952" y="72786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3952" y="75529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Patrimônio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755294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Balanço reorganizado no padrão FELCONT — nomenclatura original preservada.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11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1234440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1234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Margem bruta de 100,00% exige conciliação dos custos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Margem Bruta informada em 100,00%, com Lucro Bruto igual à Receita Líquida de R$ 1.320.956,09 e custos não informados, sugere ausência de registro de custos no período ou classificação fora da linha de custo. Esse comportamento deve ser conciliado para que a leitura operacional fique aderente à realidade do negócio.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2112"/>
            <a:ext cx="11055096" cy="1234440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82112"/>
            <a:ext cx="100584" cy="1234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Ausência de EBITDA limita avaliação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Os campos de EBITDA e EBITDA % constam como 'Dados insuficientes', o que reduz a capacidade de analisar geração operacional antes dos efeitos financeiros, tributários e não caixa. Com isso, a leitura do desempenho fica concentrada apenas no resultado operacional e líquido.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81144"/>
            <a:ext cx="11055096" cy="1234440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581144"/>
            <a:ext cx="100584" cy="1234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Liquidez seca sem informação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3834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Liquidez Seca está como 'Dados insuficientes'. Mesmo com liquidez corrente e imediata muito fortes, a falta desse indicador reduz o detalhamento da análise da capacidade de pagamento sem considerar estoques ou outros itens menos líquidos.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Recomendações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Conciliar a formação da 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Revisar a classificação contábil de custos e confrontar a Margem Bruta de 100,00% com a operação real, pois o Lucro Bruto igual à Receita Líquida e a ausência de custos informados podem distorcer a análise gerencial.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70048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70048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980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Estruturar a apuração de 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27248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Detalhar depreciação, amortização e demais componentes necessários para viabilizar a apuração do EBITDA e do EBITDA %, permitindo avaliação mais completa da geração operacional.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7015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57015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85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Completar a base para Liquidez Seca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14215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Validar a composição do ativo circulante e a segregação de estoques ou itens equivalentes para permitir a apuração da Liquidez Seca e ampliar a leitura da solvência de curto prazo.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43984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43984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Definir política de caixa e alocação de excedentes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01184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Diante da Disponibilidade de R$ 778.077,34 e dos índices de liquidez acima de 17, estabelecer política formal para caixa mínimo, aplicações, quitação antecipada de obrigações ou reinvestimentos, de forma a melhorar a eficiência do capital.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30952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30952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589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Aprofundar a análise das despesas operacionais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88152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Como Despesas/Receita estão em 51,98%, vale segmentar as despesas por natureza e centro de custo para identificar oportunidades de ganho adicional de margem sem comprometer a operação.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n6ihuk1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560320" cy="721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Roboto"/>
              </a:rPr>
              <a:t>No período de Jan a julho, a Ace apresentou Receita Líquida de R$ 1.320.956,09 e Resultado Líquido de R$ 634.306,92, com Margem Líquida de 48,02%, indicando forte geração de resultado sobre a receita. A posição patrimonial e de liquidez também se mostra muito folgada, com Disponibilidade de R$ 778.077,34, Liquidez Corrente de 17,23 e Liquidez Imediata de 17,05, frente a um Passivo Circulante de R$ 45.622,71. Como ponto de atenção, a Margem Bruta em 100,00% e a ausência de dados de EBITDA e Liquidez Seca indicam necessidade de conciliação e maior detalhamento gerencial para qualificar melhor a análise operacional.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