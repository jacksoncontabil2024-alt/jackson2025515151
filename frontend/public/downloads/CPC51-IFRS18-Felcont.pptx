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Abertura: promessa da reunião — sair sabendo o que muda, quando muda e o que a Felcont fará em 2026. Exemplo: pergunte quem já explicou um EBITDA para cliente — é esse tipo de número que a norma passa a disciplinar.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Contrato da reunião: as 4 dúvidas universais respondidas de antemão. O que é → norma de apresentação, não de mensuração. Quando → 2027 com comparativo 2026 reexpresso. Chamado Questor → sim, para roadmap e de-para. Exemplo: designe ali mesmo o responsável pelo chamado.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IFRS 18 emitida pelo IASB em abril de 2024, substitui a IAS 1 na apresentação. No Brasil: CPC 51, NBC TG 51 (CFC) e Resolução CVM 237 — já é norma brasileira. Exemplo: duas indústrias classificavam juros de arrendamento em lugares diferentes — o "lucro operacional" não era comparável; agora será.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Sobrevoo em três eixos: classificar, apresentar, divulgar. Efeitos em plano de contas, sistemas (Questor), DFC, notas e covenants. Exemplo: covenant atrelado a "lucro operacional" precisa ser relido — o número muda sem a operação mudar.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 de ouro: não classificar pelo nome da conta, e sim pela natureza da transação. Operacional é residual. Exceção: bancos/seguradoras/holdings classificam no operacional o que para outros seria investimento/financiamento. Exemplo: rendimento de aplicação de indústria → Investimento; de banco →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Subtotal sem ajuste discricionário: tudo que é operacional entra, nada sai "por conveniência". Vitória: comparabilidade. Exemplo: quem excluía depreciação dizendo ser "não recorrente" não poderá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Operacional + investimento = desempenho antes da estrutura de capital e tributos. O "EBIT" padronizado. Exemplo: empresa alavancada vs. sem dívida passam a ser comparáveis na operação.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a tabela apontando os badges. Valores fictícios. Destaque os dois subtotais obrigatórios e juros de empréstimo/arrendamento após o operacional. Exemplo: aluguel de imóvel não usado pela operação → Investimento.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MPM: subtotal usado em comunicação pública fora das demonstrações, traduzindo a visão da gestão. Não proíbe — disciplina: nota única, reconciliação, efeitos tributários e de PNCL. Exemplo: EBITDA ajustado do release reconciliado até o lucro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Agregar só o semelhante; desagregar o relevante; "outros" vira residual justificado. Exemplo: qual cliente tem "outras despesas" gorda? Será dos primeiros ajustes.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Natureza, função ou mista — o mais útil. Função ganha dever extra: divulgar depreciação, amortização, benefícios a empregados, impairment e baixas de estoque. Exemplo: quanto de depreciação está no CPV precisará aparecer em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DFC indireta parte do lucro operacional. Fim da discricionariedade: juros/dividendos recebidos → investimento; pagos → financiamento. Exemplo: confirme se o Questor reparametrizará automaticamente.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Tesouraria: 1) rendimento de caixa e aplicações é Investimento — inclusive variação cambial do caixa; 2) variação cambial segue o item de origem (cliente em dólar → operacional; empréstimo em dólar → financiamento); 3) hedge segue o risco protegido — derivativo cobrindo duas categorias (“grossing up”) → operacional. Exemplo: depreciação do direito de uso é operacional na DRE, mas pagamento do arrendamento é financiamento na DFC.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CPC 51 substitui CPC 26 (R1); NBC TG 51 (nov/2025); Res. CVM 237 revoga 106 e 156; Res. CVM 238 atualiza CPC 03, 06, 15 etc. DVA mantida (Lei 6.404/76). Alcance varia por entidade — validar cliente a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"2027 parece longe, mas o comparativo de 2027 é 2026." Retrospectiva integral. Exemplo: para publicar o comparativo em março/2027, o de-para precisa rodar desde janeiro/2026.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"Preciso mudar o plano de contas?" Não automaticamente — de-para resolve a maioria dos casos. Pode exigir desdobramentos ("outras despesas"). Depende do roadmap do Questor: chamado primeiro.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Recorte ilustrativo do de-para: conta, categoria, relatório, ação. Exemplo: rendimentos de aplicações mantém o número da conta, mas passa à categoria Investimento.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Perguntas por escrito, com protocolo — resposta documentada vira evidência de planejamento. Exemplo: sem previsão de DFC reparametrizada → item de risco do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pronto para copiar — troque os colchetes. Um chamado por cliente ou um chamado-mãe da Felcont. Exemplo: abra o chamado-piloto agora e guarde o protocolo.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Governança → diagnóstico → fornecedor → piloto → go-live. Exemplo: piloto com um cliente simples e outro com arrendamentos e aplicações cobre ~90% dos cenários.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maior risco é o tempo. Glosa de auditoria em março/2027 custa mais que as horas de mapeamento em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frases: a norma existe e tem data; a resposta é método, não pânico; a Felcont sai na frente. Cadeia: Questor → orientação técnica → mapeamento → testes → implementação. Saia com o responsável pelo passo 1 definido.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07008" y="411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Segoe UI"/>
              </a:rPr>
              <a:t>Felcont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6152" y="78638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2DD4BF"/>
                </a:solidFill>
                <a:latin typeface="Consolas"/>
              </a:rPr>
              <a:t>CONTABILIDADE, FINANÇAS E AUDITORIA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572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onsolas"/>
              </a:rPr>
              <a:t>APRESENTAÇÃO TÉCNICA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NOVA NORMA DE APRESENTAÇÃO DAS DEMONSTRAÇÕES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945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8FAFC"/>
                </a:solidFill>
                <a:latin typeface="Segoe UI"/>
              </a:rPr>
              <a:t>CPC 51 | IFRS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632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00E5FF"/>
                </a:solidFill>
                <a:latin typeface="Segoe UI"/>
              </a:rPr>
              <a:t>O que muda nas demonstrações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94A3B8"/>
                </a:solidFill>
                <a:latin typeface="Segoe UI"/>
              </a:rPr>
              <a:t>O que muda nas demonstrações contábeis e como devemos nos preparar — um guia prático para a equipe Felcont e seus clientes.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983480"/>
            <a:ext cx="2272284" cy="310896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5029200"/>
            <a:ext cx="22722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IASB · IFRS 18 · abr/2024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39796" y="4983480"/>
            <a:ext cx="1421892" cy="310896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39796" y="5029200"/>
            <a:ext cx="14218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CFC · NBC TG 51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79" y="4983480"/>
            <a:ext cx="2017166" cy="310896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79" y="5029200"/>
            <a:ext cx="201716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CVM · Resolução nº 237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8038" y="4983480"/>
            <a:ext cx="3377793" cy="310896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8038" y="5029200"/>
            <a:ext cx="337779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Vigência · exercícios a partir de 2027</a:t>
            </a:r>
          </a:p>
        </p:txBody>
      </p:sp>
      <p:pic>
        <p:nvPicPr>
          <p:cNvPr id="18" name="Picture 17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RESUMO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Quatro perguntas, respostas diretas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02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As dúvidas que todo cliente e toda equipe fazem — respondidas de antemão.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5532120" cy="21945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11095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O que é?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13432"/>
            <a:ext cx="5166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A IFRS 18 é a nova norma global de apresentação das demonstrações (IASB, abr/2024). O CPC 51 é a versão brasileira — NBC TG 51 (CFC) e Resolução CVM nº 237 — e substitui o CPC 26 (R1). É norma de apresentação: não muda mensuração nem o lucro.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3016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DETALHES · SLIDE 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532120" cy="21945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911095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O que muda?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313432"/>
            <a:ext cx="5166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DRE em 5 categorias, dois subtotais obrigatórios, MPMs reconciliadas em nota, fim das “outras despesas” genéricas e DFC reparametrizada. O lucro final não muda — a forma de apresentar, sim.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63016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SLIDES 04 A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160520"/>
            <a:ext cx="5532120" cy="21945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288536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Quando entra em vigor?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90872"/>
            <a:ext cx="5166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Exercícios iniciados em ou após 01/01/2027, com aplicação retrospectiva: o comparativo de 2026 já sai no novo formato. Aplicação antecipada permitida. Preparação: 2026.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00760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LINHA DO TEMPO · SLIDE 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160520"/>
            <a:ext cx="5532120" cy="21945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288536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Abrir chamado no Questor para o plano de contas?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690872"/>
            <a:ext cx="5166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Sim — abra já. Mas não para trocar o plano de contas às cegas: o chamado levanta o roadmap do fornecedor e a parametrização de de-para (conta × categoria), sem quebrar o histórico. [Confirmar com o fornecedor]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600760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MODELO PRONTO · SLIDE 19</a:t>
            </a:r>
          </a:p>
        </p:txBody>
      </p:sp>
      <p:pic>
        <p:nvPicPr>
          <p:cNvPr id="22" name="Picture 21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INTRODUÇÃO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O que é a IFRS 18 — e o que é o CPC 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03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A mesma norma, em dois idiomas regulatórios: global (IASB) e brasileiro (CPC / CFC / CVM).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3852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E5FF"/>
                </a:solidFill>
                <a:latin typeface="Segoe UI"/>
              </a:rPr>
              <a:t>IFRS 18 · IASB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Emitida em abril de 2024 pelo International Accounting Standards Board. Substitui a IAS 1 na apresentação e divulgação das demonstrações.
Objetivo: comparabilidade — acabar com cada empresa apresentando o resultado de um jeito.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8308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93852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Segoe UI"/>
              </a:rPr>
              <a:t>CPC 51 · Brasil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774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Pronunciamento do CPC, norma NBC TG 51 do CFC e Resolução CVM nº 237. Substitui o CPC 26 (R1).
Convergência integral com a IFRS 18, com adaptações brasileiras — como a manutenção da DVA.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78308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93852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8BDF8"/>
                </a:solidFill>
                <a:latin typeface="Segoe UI"/>
              </a:rPr>
              <a:t>Por que isso importa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3774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— Investidores e bancos comparam empresas pelos subtotais da DRE
— Hoje esses subtotais não são padronizados nem exigidos
— A norma fixa estrutura, subtotais e divulgações mínimas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49240"/>
            <a:ext cx="11155680" cy="64008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0468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Relação direta: quem aplica CPC 26 (R1) hoje passará a aplicar o CPC 51 — não é uma norma “a mais”, é a substituta.</a:t>
            </a:r>
          </a:p>
        </p:txBody>
      </p:sp>
      <p:pic>
        <p:nvPicPr>
          <p:cNvPr id="17" name="Picture 16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O que muda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04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Três eixos — classificar, apresentar e divulgar — com efeitos em toda a cadeia contábil.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87451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21671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Classificação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6517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Receitas e despesas em 5 categorias obrigatórias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0632" y="17830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187451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1671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Subtotais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26517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Lucro operacional + lucro antes de financiamento e tributos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17830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59" y="187451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59" y="21671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MPMs / MPDAs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6517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Medidas da administração com nota de reconciliação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06055" y="17830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34071" y="187451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1" y="21671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Agregação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4071" y="26517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Fim da linha genérica de “outras despesas”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73768" y="17830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01784" y="187451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1784" y="21671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Divulgação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1784" y="26517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Notas explicativas mais densas e padronizadas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6118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39959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Comparabilidade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44805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Mesma estrutura para todas as empresas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70632" y="36118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8648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39959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Plano de contas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98648" y="44805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De-para conta × categoria (não necessariamente contas novas)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38344" y="36118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66359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59" y="39959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Sistemas / ERP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66359" y="44805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Parametrização do Questor e rotinas de fechamento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06055" y="36118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34071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34071" y="39959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DFC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34071" y="44805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Ponto de partida e classificação de juros e dividendos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73768" y="36118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01784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01784" y="39959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Indicadores &amp; covenants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1784" y="44805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Contratos atrelados a subtotais precisam ser relidos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623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Nenhum item muda o lucro líquido final — muda como ele é decomposto, apresentado e explicado.</a:t>
            </a:r>
          </a:p>
        </p:txBody>
      </p:sp>
      <p:pic>
        <p:nvPicPr>
          <p:cNvPr id="47" name="Picture 46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NOVA ESTRUTURA DA DRE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Cinco categorias obrigatórias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05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Toda receita e despesa entra em uma — e somente uma — destas categorias.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2103120" cy="2651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9019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E5FF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Operacional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8803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Categoria residual: toda receita e despesa das atividades principais que não cair nas demais.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0632" y="1783080"/>
            <a:ext cx="2103120" cy="2651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6936" y="19019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6936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Investimento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6936" y="28803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Retornos gerados de forma independente: aplicações, equivalência patrimonial, ativos de investimento.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1783080"/>
            <a:ext cx="2103120" cy="2651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4648" y="19019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8B5CF6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4648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Financiamento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4648" y="28803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Captação de recursos: empréstimos, debêntures e juros de passivos (inclui arrendamentos).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06055" y="1783080"/>
            <a:ext cx="2103120" cy="2651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59" y="19019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59E0B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59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Impostos s/ renda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59" y="28803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IRPJ e CSLL correntes e diferidos (CPC 32 / IAS 12) e variações cambiais correlatas.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73768" y="1783080"/>
            <a:ext cx="2103120" cy="2651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19019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43F5E"/>
                </a:solidFill>
                <a:latin typeface="Consola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0072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Op. descontinuadas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28803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Resultado de operações descontinuadas conforme CPC 31 / IFRS 5.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66344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828032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Regra de ouro: não se classifica pelo nome da conta, e sim pela natureza da transação.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66344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4828032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F8FAFC"/>
                </a:solidFill>
                <a:latin typeface="Segoe UI"/>
              </a:rPr>
              <a:t>Exceção: entidades cuja atividade principal é financiar clientes ou investir (bancos, seguradoras) classificam esses resultados no operacional.</a:t>
            </a:r>
          </a:p>
        </p:txBody>
      </p:sp>
      <p:pic>
        <p:nvPicPr>
          <p:cNvPr id="30" name="Picture 29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SUBTOTAL OBRIGATÓRIO Nº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Lucro / prejuízo operacional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06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A soma de todas as receitas e despesas da categoria operacional — o número que o mercado vai comparar primeiro.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64748B"/>
                </a:solidFill>
                <a:latin typeface="Consolas"/>
              </a:rPr>
              <a:t>DEFINIÇÃO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Subtotal que não admite ajuste de critério: tudo que é da operação entra, nada sai “por conveniência”. A depreciação de ativo operacional, por exemplo, fica dentro — sempre.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4048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977639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00E5FF"/>
                </a:solidFill>
                <a:latin typeface="Consolas"/>
              </a:rPr>
              <a:t>POR QUE MELHORA A COMPARABILIDADE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— Separa o desempenho da operação das decisões de financiamento
— Comparável entre concorrentes, setores e períodos
— Passa a ser o ponto de partida da DFC (método indireto)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920240"/>
            <a:ext cx="5120640" cy="77724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212140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Receitas e despesas da operação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971800"/>
            <a:ext cx="4023360" cy="77724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172968"/>
            <a:ext cx="3749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Sem exclusões “não recorrentes” discricionárias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4023360"/>
            <a:ext cx="3017520" cy="77724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42245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Mesma regra para toda empresa e todo período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212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= LUCRO OPERACIONAL</a:t>
            </a:r>
          </a:p>
        </p:txBody>
      </p:sp>
      <p:pic>
        <p:nvPicPr>
          <p:cNvPr id="19" name="Picture 18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SUBTOTAL OBRIGATÓRIO Nº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Lucro antes de financiamento e tributos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07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Lucro operacional + categoria de investimento — antes da estrutura de capital e dos tributos.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5120640" cy="7772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140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Lucro operacional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43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64748B"/>
                </a:solidFill>
                <a:latin typeface="Segoe UI"/>
              </a:rPr>
              <a:t>+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54680"/>
            <a:ext cx="5120640" cy="7772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35584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Categoria de investimento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776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64748B"/>
                </a:solidFill>
                <a:latin typeface="Segoe UI"/>
              </a:rPr>
              <a:t>=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389120"/>
            <a:ext cx="5120640" cy="91440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6177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E5FF"/>
                </a:solidFill>
                <a:latin typeface="Segoe UI"/>
              </a:rPr>
              <a:t>Lucro antes de financiamento e tributos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92024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029968"/>
            <a:ext cx="5157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O “EBIT” padronizado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423160"/>
            <a:ext cx="51572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Equivalente padronizado do “EBIT” que analistas calculavam por conta própria — agora exigido, com regra única de composição.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65760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767328"/>
            <a:ext cx="5157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Comparabilidade entre estruturas de capital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4160520"/>
            <a:ext cx="51572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Empresa alavancada e empresa sem dívida passam a ser comparáveis na operação e no investimento.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440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4748B"/>
                </a:solidFill>
                <a:latin typeface="Consolas"/>
              </a:rPr>
              <a:t>DEPOIS DELE: FINANCIAMENTO → IMPOSTOS S/ RENDA → OP. DESCONTINUADAS</a:t>
            </a:r>
          </a:p>
        </p:txBody>
      </p:sp>
      <p:pic>
        <p:nvPicPr>
          <p:cNvPr id="21" name="Picture 20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SLIDE-DESTAQUE · DEMONSTRAÇÃO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Exemplo de DRE no novo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08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25880"/>
          <a:ext cx="112014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2377440"/>
                <a:gridCol w="2423160"/>
              </a:tblGrid>
              <a:tr h="27969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Demonstração do resultado (valores em R$ · FICTÍCIOS)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Categoria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 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Receita líquida de vendas e serviços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12.500.000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Custo dos produtos e serviços (CPV/CSP)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(7.800.000)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Despesas com vendas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(950.000)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Despesas administrativas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(1.400.000)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Outras receitas operacionais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180.000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8FAFC"/>
                          </a:solidFill>
                          <a:latin typeface="Segoe UI"/>
                        </a:rPr>
                        <a:t>LUCRO OPERACIONAL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0E5FF"/>
                          </a:solidFill>
                          <a:latin typeface="Consolas"/>
                        </a:rPr>
                        <a:t>2.530.000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Rendimentos de aplicações financeiras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0B981"/>
                          </a:solidFill>
                          <a:latin typeface="Consolas"/>
                        </a:rPr>
                        <a:t>INVESTIMENTO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220.000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Resultado de equivalência patrimonial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0B981"/>
                          </a:solidFill>
                          <a:latin typeface="Consolas"/>
                        </a:rPr>
                        <a:t>INVESTIMENTO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90.000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8FAFC"/>
                          </a:solidFill>
                          <a:latin typeface="Segoe UI"/>
                        </a:rPr>
                        <a:t>LUCRO ANTES DE FINANCIAMENTO E TRIBUTOS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0E5FF"/>
                          </a:solidFill>
                          <a:latin typeface="Consolas"/>
                        </a:rPr>
                        <a:t>2.840.000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Despesas financeiras — empréstimos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8B5CF6"/>
                          </a:solidFill>
                          <a:latin typeface="Consolas"/>
                        </a:rPr>
                        <a:t>FINANCIAMENTO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(610.000)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Juros sobre arrendamentos (CPC 06 / IFRS 16)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8B5CF6"/>
                          </a:solidFill>
                          <a:latin typeface="Consolas"/>
                        </a:rPr>
                        <a:t>FINANCIAMENTO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(130.000)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8FAFC"/>
                          </a:solidFill>
                          <a:latin typeface="Segoe UI"/>
                        </a:rPr>
                        <a:t>LUCRO ANTES DOS TRIBUTOS SOBRE A RENDA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0E5FF"/>
                          </a:solidFill>
                          <a:latin typeface="Consolas"/>
                        </a:rPr>
                        <a:t>2.100.000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IRPJ e CSLL (correntes e diferidos)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59E0B"/>
                          </a:solidFill>
                          <a:latin typeface="Consolas"/>
                        </a:rPr>
                        <a:t>IMPOSTOS S/ RENDA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(714.000)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8FAFC"/>
                          </a:solidFill>
                          <a:latin typeface="Segoe UI"/>
                        </a:rPr>
                        <a:t>LUCRO DAS OPERAÇÕES CONTINUADAS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0E5FF"/>
                          </a:solidFill>
                          <a:latin typeface="Consolas"/>
                        </a:rPr>
                        <a:t>1.386.000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Resultado de operações descontinuadas (CPC 31)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43F5E"/>
                          </a:solidFill>
                          <a:latin typeface="Consolas"/>
                        </a:rPr>
                        <a:t>OP. DESCONTINUADAS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74.000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71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8FAFC"/>
                          </a:solidFill>
                          <a:latin typeface="Segoe UI"/>
                        </a:rPr>
                        <a:t>LUCRO LÍQUIDO DO EXERCÍCIO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0E5FF"/>
                          </a:solidFill>
                          <a:latin typeface="Consolas"/>
                        </a:rPr>
                        <a:t>1.460.000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DIVULGAÇÃO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MPMs — medidas definidas pela administração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09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EBITDA ajustado, lucro recorrente: a norma não proíbe — disciplina.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64748B"/>
                </a:solidFill>
                <a:latin typeface="Consolas"/>
              </a:rPr>
              <a:t>O QUE ENQUADRA UMA MEDIDA COMO MPM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1. Subtotal de receitas e despesas;
2. Usado em comunicação pública FORA das demonstrações (releases, apresentações);
3. Que transmite a visão da administração sobre o desempenho.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92040"/>
            <a:ext cx="5029200" cy="68580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0474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Segoe UI"/>
              </a:rPr>
              <a:t>Exemplo clássico: “EBITDA ajustado” do release de resultados.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8308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87451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Nota explicativa única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221991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Todas as MPMs concentradas em uma única nota.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816352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90779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Reconciliação obrigatória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25526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Linha a linha até o subtotal IFRS/CPC mais diretamente comparável.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849624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941063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Efeitos tributários e de PNCL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28853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Impostos e participações de não controladores por item.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882896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97433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Por que a medida é útil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32180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Explicação da visão da administração e de mudanças de critério.</a:t>
            </a:r>
          </a:p>
        </p:txBody>
      </p:sp>
      <p:pic>
        <p:nvPicPr>
          <p:cNvPr id="23" name="Picture 22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TRANSPARÊNCIA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Agregação e desagregação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10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Agregar só o que é semelhante; desagregar o que é relevante. “Outros” vira residual — e precisa se justificar.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4206240" cy="219456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43F5E"/>
                </a:solidFill>
                <a:latin typeface="Consolas"/>
              </a:rPr>
              <a:t>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Outras despesas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8FAFC"/>
                </a:solidFill>
                <a:latin typeface="Consolas"/>
              </a:rPr>
              <a:t>2.800.000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Uma linha opaca: ninguém sabe o que está dentro.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828800"/>
            <a:ext cx="6217920" cy="393192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965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00E5FF"/>
                </a:solidFill>
                <a:latin typeface="Consolas"/>
              </a:rPr>
              <a:t>DEPOIS (valores fictícios)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3317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Manutenção e reparos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3317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Consolas"/>
              </a:rPr>
              <a:t>900.000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807208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Serviços terceirizados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8072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Consolas"/>
              </a:rPr>
              <a:t>750.000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28269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Seguros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28269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Consolas"/>
              </a:rPr>
              <a:t>420.000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3758183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Perdas estimadas com créditos (PCLD)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758183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Consolas"/>
              </a:rPr>
              <a:t>380.000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233671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Demais itens não materiais (justificados)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233671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Consolas"/>
              </a:rPr>
              <a:t>350.000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800599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Total (inalterado)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480059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00E5FF"/>
                </a:solidFill>
                <a:latin typeface="Consolas"/>
              </a:rPr>
              <a:t>2.800.000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O valor total não muda — muda a qualidade da informação. Linhas “outras” grandes serão questionadas por auditores e reguladores.</a:t>
            </a:r>
          </a:p>
        </p:txBody>
      </p:sp>
      <p:pic>
        <p:nvPicPr>
          <p:cNvPr id="26" name="Picture 25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DESPESAS OPERACIONAIS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Natureza × função × combinação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11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O critério mais útil aos usuários — com um dever extra para quem escolher função.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385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POR NATUREZA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Tipo do gasto:
· Matéria-prima e insumos
· Pessoal e encargos
· Depreciação e amortização
· Serviços de terceiros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8308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9385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Consolas"/>
              </a:rPr>
              <a:t>POR FUNÇÃO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3172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Área que consome:
· CPV / custo dos serviços
· Despesas com vendas
· Despesas administrativas
Dever extra: divulgar em nota depreciação, amortização, benefícios a empregados, impairment e baixas de estoque.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78308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9385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Consolas"/>
              </a:rPr>
              <a:t>COMBINAÇÃO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33172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Mista é permitida quando for a mais útil — parte por função, parte por natureza.
O critério precisa ser consistente entre períodos e explicado nas notas.
Impacto direto no plano de contas e no de-para.</a:t>
            </a:r>
          </a:p>
        </p:txBody>
      </p:sp>
      <p:pic>
        <p:nvPicPr>
          <p:cNvPr id="15" name="Picture 14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DEMONSTRAÇÃO DOS FLUXOS DE CAIXA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Impactos na DFC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12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Novo ponto de partida no método indireto — e fim da liberdade de classificar juros e dividendos.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64748B"/>
                </a:solidFill>
                <a:latin typeface="Consolas"/>
              </a:rPr>
              <a:t>PONTO DE PARTIDA (MÉTODO INDIRETO)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Segoe UI"/>
              </a:rPr>
              <a:t>Lucro antes dos tributos  →  LUCRO OPERACIONAL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Menos ajustes artificiais: a reconciliação parte do subtotal que já exclui financiamento e tributos.
Entidades com atividade principal financeira seguem regras próprias.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72200" y="192024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468880"/>
              </a:tblGrid>
              <a:tr h="53035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Fluxo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Classificação na DFC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8FAFC"/>
                          </a:solidFill>
                          <a:latin typeface="Segoe UI"/>
                        </a:rPr>
                        <a:t>Juros recebidos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Consolas"/>
                        </a:rPr>
                        <a:t>INVESTIMENTO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8FAFC"/>
                          </a:solidFill>
                          <a:latin typeface="Segoe UI"/>
                        </a:rPr>
                        <a:t>Dividendos recebidos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Consolas"/>
                        </a:rPr>
                        <a:t>INVESTIMENTO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8FAFC"/>
                          </a:solidFill>
                          <a:latin typeface="Segoe UI"/>
                        </a:rPr>
                        <a:t>Juros pagos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5CF6"/>
                          </a:solidFill>
                          <a:latin typeface="Consolas"/>
                        </a:rPr>
                        <a:t>FINANCIAMENTO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8FAFC"/>
                          </a:solidFill>
                          <a:latin typeface="Segoe UI"/>
                        </a:rPr>
                        <a:t>Dividendos pagos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5CF6"/>
                          </a:solidFill>
                          <a:latin typeface="Consolas"/>
                        </a:rPr>
                        <a:t>FINANCIAMENTO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47548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Antes: discricionário. Agora: regra única — reparametrização obrigatória no sistema.</a:t>
            </a:r>
          </a:p>
        </p:txBody>
      </p:sp>
      <p:pic>
        <p:nvPicPr>
          <p:cNvPr id="12" name="Picture 11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TESOURARIA · CLASSIFICAÇÃO FINA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Juros, câmbio e hedge na nova DRE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13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Onde a classificação mais pega na prática — regras do material oficial de efeitos da tesouraria.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92807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Segoe UI"/>
              </a:rPr>
              <a:t>Caixa e aplicações financeiras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Rendimentos de caixa e equivalentes → Investimento. Variação cambial do caixa em moeda também → Investimento (descasamento com dívida em moeda = Financiamento).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892807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Segoe UI"/>
              </a:rPr>
              <a:t>Variações cambiais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2860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Seguem a categoria do item de origem: contas a receber de clientes → Operacional; empréstimo em moeda estrangeira → Financiamento.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29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387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Segoe UI"/>
              </a:rPr>
              <a:t>Hedge e derivativos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319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Mesma categoria do risco protegido. Derivativo cobrindo riscos de duas categorias (“grossing up”) → Operacional.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429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5387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8B5CF6"/>
                </a:solidFill>
                <a:latin typeface="Segoe UI"/>
              </a:rPr>
              <a:t>Juros e arrendamentos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9319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Juros de empréstimos e arrendamentos (CPC 06) → Financiamento. Depreciação do direito de uso → Operacional: DRE e DFC podem divergir.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1208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3492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Segoe UI"/>
              </a:rPr>
              <a:t>Serviços financeiros: bancos e seguradoras (atividade principal de financiar/investir) classificam juros e resultado de investimentos no Operacional — a receita líquida de juros de um banco é receita operacional.</a:t>
            </a:r>
          </a:p>
        </p:txBody>
      </p:sp>
      <p:pic>
        <p:nvPicPr>
          <p:cNvPr id="20" name="Picture 19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CENÁRIO REGULATÓRIO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Brasil — CPC 51 · NBC TG 51 · CVM 237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14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Não é “norma de fora”: já é norma brasileira, com cadeia completa de regulação.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9280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Segoe UI"/>
              </a:rPr>
              <a:t>CPC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9202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CPC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286000"/>
            <a:ext cx="4206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Pronunciamento que substitui o CPC 26 (R1) — Apresentação das Demonstrações Contábeis.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9280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Segoe UI"/>
              </a:rPr>
              <a:t>CFC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19202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NBC TG 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286000"/>
            <a:ext cx="4206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Norma brasileira publicada pelo Conselho Federal de Contabilidade em novembro de 2025.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8328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49300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Segoe UI"/>
              </a:rPr>
              <a:t>CVM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5204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Resolução nº 237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886200"/>
            <a:ext cx="4206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Aprova o CPC 51 para companhias abertas e revoga as Resoluções CVM nº 106 e nº 156.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38328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49300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Segoe UI"/>
              </a:rPr>
              <a:t>CVM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35204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Resolução nº 238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3886200"/>
            <a:ext cx="4206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Torna obrigatório o Documento de Revisão nº 28, atualizando CPC 03, 06, 15 e outros.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6636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035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Segoe UI"/>
              </a:rPr>
              <a:t>Adaptações mantidas: DVA (Lei 6.404/76) e particularidades da Lei das S.A.  ·  Alcance da obrigatoriedade varia por tipo de entidade — validar cliente a cliente [Confirmar na fonte].</a:t>
            </a:r>
          </a:p>
        </p:txBody>
      </p:sp>
      <p:pic>
        <p:nvPicPr>
          <p:cNvPr id="24" name="Picture 23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VIGÊNCIA E TRANSIÇÃO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2026 prepara · 2027 adota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15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Aplicação antecipada permitida. Transição retrospectiva: o comparativo de 2026 entra no novo formato.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4748B"/>
                </a:solidFill>
                <a:latin typeface="Consolas"/>
              </a:rPr>
              <a:t>abr/2024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697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Emissão da IFRS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29184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IASB publica a norma; início do debate global.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10312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4748B"/>
                </a:solidFill>
                <a:latin typeface="Consolas"/>
              </a:rPr>
              <a:t>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697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CPC 51 · NBC TG 51 · CVM 237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329184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Convergência brasileira formalizada.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210312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E5FF"/>
                </a:solidFill>
                <a:latin typeface="Consolas"/>
              </a:rPr>
              <a:t>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697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Ano de preparação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329184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Mapeamento, de-para, pilotos — e o ano que virará comparativo reexpresso.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1704" y="210312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26296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E5FF"/>
                </a:solidFill>
                <a:latin typeface="Consolas"/>
              </a:rP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2697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Adoção obrigatória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296" y="329184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Exercícios a partir de 01/01/2027. Aplicação retrospectiva integral.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92040"/>
            <a:ext cx="11155680" cy="91440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749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Por que 2026 importa: o comparativo publicado em 2027 é o exercício de 2026 — quem não reexpressar durante o ano vai reconstruir 12 meses de classificação sob pressão de prazo.</a:t>
            </a:r>
          </a:p>
        </p:txBody>
      </p:sp>
      <p:pic>
        <p:nvPicPr>
          <p:cNvPr id="24" name="Picture 23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SISTEMAS · ERP QUESTOR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“Precisamos mudar o plano de contas?”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16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Resposta ponderada: não automaticamente. A norma exige classificação e apresentação — não necessariamente contas novas.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10B981"/>
                </a:solidFill>
                <a:latin typeface="Consolas"/>
              </a:rPr>
              <a:t>O QUE JÁ EXISTE NO QUESTOR HOJE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0292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— Rotina “Optante pelo IFRS”: Operações › Contabilidade › Contabilidade Geral
— Modelos de adoção: Normal (completa), PME e ITG, com histórico por período
— “Controla Atividades” já gera a DRE por atividade, em colunas
— Data de adoção é irreversível — exige exercício anterior fechado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59E0B"/>
                </a:solidFill>
                <a:latin typeface="Consolas"/>
              </a:rPr>
              <a:t>O QUE AINDA PRECISAMOS CONFIRMAR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0292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— As 5 categorias do CPC 51 nativas e o de-para conta × categoria
— Subtotais obrigatórios automáticos na DRE
— DFC reparametrizada (juros/dividendos) e MPMs com reconciliação
— Comparativos de 2026 reexpressos e exportação do de-para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3949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Conduta Felcont: primeiro o chamado formal ao Questor, depois qualquer alteração de plano de contas — nunca antes. [Confirmar com o fornecedor]</a:t>
            </a:r>
          </a:p>
        </p:txBody>
      </p:sp>
      <p:pic>
        <p:nvPicPr>
          <p:cNvPr id="13" name="Picture 12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DE-PARA · EXEMPLO FICTÍCIO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Tabela de mapeamento de contas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17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2014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2286000"/>
                <a:gridCol w="1051560"/>
                <a:gridCol w="2926080"/>
              </a:tblGrid>
              <a:tr h="4673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Conta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Descrição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Categoria CPC 51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Relatório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Ação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3.01.001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Receita de prestação de serviços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Manter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4.01.002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Custo dos serviços prestados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Manter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3.02.001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Rendimentos de aplicações financeiras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0B981"/>
                          </a:solidFill>
                          <a:latin typeface="Consolas"/>
                        </a:rPr>
                        <a:t>INVESTIMENTO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Reclassificar p/ Investimento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3.03.001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Equivalência patrimonial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0B981"/>
                          </a:solidFill>
                          <a:latin typeface="Consolas"/>
                        </a:rPr>
                        <a:t>INVESTIMENTO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Reclassificar p/ Investimento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4.02.003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Juros passivos — empréstimos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8B5CF6"/>
                          </a:solidFill>
                          <a:latin typeface="Consolas"/>
                        </a:rPr>
                        <a:t>FINANCIAMENTO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Reclassificar p/ Financiamento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4.02.007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Juros de arrendamento (CPC 06)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8B5CF6"/>
                          </a:solidFill>
                          <a:latin typeface="Consolas"/>
                        </a:rPr>
                        <a:t>FINANCIAMENTO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Reclassificar p/ Financiamento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4.04.001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IRPJ / CSLL correntes e diferidos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59E0B"/>
                          </a:solidFill>
                          <a:latin typeface="Consolas"/>
                        </a:rPr>
                        <a:t>IMPOSTOS S/ RENDA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Manter · nova categoria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3.05.002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Resultado de unidade encerrada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43F5E"/>
                          </a:solidFill>
                          <a:latin typeface="Consolas"/>
                        </a:rPr>
                        <a:t>OP. DESCONTINUADAS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Avaliar enquadramento CPC 31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Recorte ilustrativo — o de-para real nasce do plano de contas de cada cliente, validado com a parametrização do Questor. [Confirmar com o fornecedor]</a:t>
            </a:r>
          </a:p>
        </p:txBody>
      </p:sp>
      <p:pic>
        <p:nvPicPr>
          <p:cNvPr id="7" name="Picture 6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FORNECEDOR · PREPARAÇÃO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Perguntas a fazer ao suporte Questor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18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Perguntas objetivas, por escrito — a resposta documentada vira evidência de planejamento.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11155680" cy="512064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647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783080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 Questor terá parametrização nativa das 5 categorias do CPC 51? Qual o roadmap e o prazo?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95144"/>
            <a:ext cx="11155680" cy="512064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6829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386584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A classificação será por conta contábil, por centro de resultado/custo ou por lançamento?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898648"/>
            <a:ext cx="11155680" cy="512064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971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990088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A DRE exibirá automaticamente os subtotais obrigatórios (lucro operacional; antes de financiamento e tributos)?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02152"/>
            <a:ext cx="11155680" cy="512064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7530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93592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Como o sistema tratará as MPMs/MPDAs — campos para reconciliação e divulgação em nota?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05656"/>
            <a:ext cx="11155680" cy="512064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788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197096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A DFC (método indireto) partirá do lucro operacional, com juros/dividendos recebidos em investimento e pagos em financiamento?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709160"/>
            <a:ext cx="11155680" cy="512064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7823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800600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Haverá rotina para gerar os comparativos de 2026 reexpressos no novo formato em 2027?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12664"/>
            <a:ext cx="11155680" cy="512064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3858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404104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É possível exportar a tabela de de-para (conta × categoria CPC 51) para conferência e auditoria?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8FAFC"/>
                </a:solidFill>
                <a:latin typeface="Segoe UI"/>
              </a:rPr>
              <a:t>Regra da casa: nada de telefone — chamado formal, com protocolo e resposta por escrito.</a:t>
            </a:r>
          </a:p>
        </p:txBody>
      </p:sp>
      <p:pic>
        <p:nvPicPr>
          <p:cNvPr id="28" name="Picture 27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PRONTO PARA USAR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Modelo de chamado ao Questor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19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Troque os colchetes pelos dados do cliente e envie. Um chamado por cliente — ou um chamado-mãe da Felcont.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11155680" cy="4480560"/>
          </a:xfrm>
          <a:prstGeom prst="roundRect">
            <a:avLst>
              <a:gd name="adj" fmla="val 6000"/>
            </a:avLst>
          </a:prstGeom>
          <a:solidFill>
            <a:srgbClr val="0B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10607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Assunto: CPC 51 / IFRS 18 — Roadmap de adequação da DRE, DFC e parametrização de categorias
Prezada equipe de suporte Questor,
Somos responsáveis pela contabilidade da empresa [RAZÃO SOCIAL], CNPJ [00.000.000/0000-00], e estamos planejando a adequação ao CPC 51 / NBC TG 51 (IFRS 18), obrigatório para exercícios iniciados a partir de 01/01/2027, com comparativos de 2026 reexpressos.
Solicitamos, por escrito: 1. Roadmap e prazo para parametrização das 5 categorias da DRE; 2. Forma de classificação (conta, centro de resultado ou lançamento); 3. Geração automática dos subtotais obrigatórios; 4. Tratamento das MPMs/MPDAs e reconciliações em nota; 5. Adequação da DFC (método indireto a partir do lucro operacional; juros/dividendos recebidos em investimento; pagos em financiamento); 6. Rotina para comparativos de 2026 reexpressos; 7. Exportação da tabela de de-para (conta × categoria) para auditoria.
Ficamos à disposição para reunião técnica e solicitamos o número de protocolo deste chamado.
Atenciosamente,
[NOME] — Felcont Contabilidade, Finanças e Auditoria · [E-MAIL] · [TELEFONE]</a:t>
            </a:r>
          </a:p>
        </p:txBody>
      </p:sp>
      <p:pic>
        <p:nvPicPr>
          <p:cNvPr id="8" name="Picture 7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EXECUÇÃO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Plano de ação Felcont 2026 — 10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20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Governança → diagnóstico → fornecedor → piloto → go-live. Cada passo com dono e prazo.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87451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224028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Comitê interno CPC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78892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Responsável técnico e sponsor na Felcont.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0632" y="178308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187451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24028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Treinar a equipe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278892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Esta apresentação + texto oficial do CPC 51.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178308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59" y="187451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59" y="224028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Mapear clientes impactados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78892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Carteira por alcance e obrigatoriedade.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06055" y="178308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34071" y="187451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1" y="224028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De-para do plano de contas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4071" y="278892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Conta × categoria CPC 51, cliente a cliente.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73768" y="178308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01784" y="187451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1784" y="224028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Validar com o Questor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1784" y="278892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Chamado formal + roadmap por escrito.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65760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7490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11480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Definir MPMs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466344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Listar medidas e preparar reconciliações.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70632" y="365760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8648" y="37490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411480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Revisar a DFC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98648" y="466344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Novo ponto de partida; juros e dividendos.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38344" y="365760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66359" y="37490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59" y="411480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Piloto com 2–3 clientes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66359" y="466344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Rodar o comparativo de 2026 reexpresso.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06055" y="365760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34071" y="37490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34071" y="411480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Notas e templates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34071" y="466344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Ajustar notas explicativas e modelos.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73768" y="365760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01784" y="37490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01784" y="411480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Go-live 2027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1784" y="466344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Implantação plena + revisão pós-adoção.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715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Piloto recomendado: um cliente simples + um com arrendamentos e aplicações — cobre ~90% dos cenários da carteira.</a:t>
            </a:r>
          </a:p>
        </p:txBody>
      </p:sp>
      <p:pic>
        <p:nvPicPr>
          <p:cNvPr id="47" name="Picture 46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GESTÃO DE RISCOS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O custo de deixar para a última hora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21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O maior risco não é a norma ser difícil — é o tempo.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3657600" cy="1645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87451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Comparativo 2026 não reexpresso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91109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F43F5E"/>
                </a:solidFill>
                <a:latin typeface="Consolas"/>
              </a:rPr>
              <a:t>ALTO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4688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Reconstruir um ano de classificação sob pressão de prazo.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83080"/>
            <a:ext cx="3657600" cy="1645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9704" y="187451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Dependência do fornecedor sem SLA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191109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F43F5E"/>
                </a:solidFill>
                <a:latin typeface="Consolas"/>
              </a:rPr>
              <a:t>ALTO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4688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Roadmap do Questor sem data vira gargalo fora do nosso controle.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783080"/>
            <a:ext cx="3657600" cy="1645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4" y="187451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Classificação incorreta nas categorias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18520" y="191109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F43F5E"/>
                </a:solidFill>
                <a:latin typeface="Consolas"/>
              </a:rPr>
              <a:t>ALTO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4688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Subtotais errados e questionamento da auditoria independente.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66160"/>
            <a:ext cx="3657600" cy="1645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6576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Equipe não treinada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69417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F43F5E"/>
                </a:solidFill>
                <a:latin typeface="Consolas"/>
              </a:rPr>
              <a:t>ALTO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" y="425196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Erros de lançamento replicados em massa na carteira.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566160"/>
            <a:ext cx="3657600" cy="1645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4" y="36576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“Outras despesas” genéricas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69417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F59E0B"/>
                </a:solidFill>
                <a:latin typeface="Consolas"/>
              </a:rPr>
              <a:t>MÉDIO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704" y="425196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Não conformidade com agregação e desagregação.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3566160"/>
            <a:ext cx="3657600" cy="1645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4" y="36576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MPMs sem reconciliação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18520" y="369417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F59E0B"/>
                </a:solidFill>
                <a:latin typeface="Consolas"/>
              </a:rPr>
              <a:t>MÉDIO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0184" y="425196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Medidas divulgadas sem a nota obrigatória de reconciliação.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577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Uma glosa de auditoria em março de 2027 custa mais caro — em retrabalho e prazo regulatório — do que as horas de mapeamento em 2026.</a:t>
            </a:r>
          </a:p>
        </p:txBody>
      </p:sp>
      <p:pic>
        <p:nvPicPr>
          <p:cNvPr id="31" name="Picture 30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FECHAMENTO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Conclusão e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22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Transformar exigência regulatória em diferencial consultivo para os clientes.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6035040" cy="109728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92807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A norma já existe e tem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860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2027 obrigatória, com comparativo de 2026 reexpresso — retrospectiva integral.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17520"/>
            <a:ext cx="6035040" cy="109728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2724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08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A resposta é método, não pânico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20439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De-para, validação com o Questor e piloto — não plano de contas novo às cegas.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51960"/>
            <a:ext cx="6035040" cy="109728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36168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3434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A Felcont sai na frente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7548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Quem orienta o cliente em 2026 vende tranquilidade — não retrabalho em 2027.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1783080"/>
            <a:ext cx="4800600" cy="393192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19202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00E5FF"/>
                </a:solidFill>
                <a:latin typeface="Consolas"/>
              </a:rPr>
              <a:t>CADEIA DE EXECUÇÃO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0880" y="2286000"/>
            <a:ext cx="4434840" cy="502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23774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01  ·  Questor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2907792"/>
            <a:ext cx="4434840" cy="502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29992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02  ·  Orientação técnica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40880" y="3529584"/>
            <a:ext cx="4434840" cy="502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3621024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03  ·  Mapeamento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0" y="4151376"/>
            <a:ext cx="4434840" cy="502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0" y="424281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04  ·  Testes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0880" y="4773168"/>
            <a:ext cx="4434840" cy="502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0" y="4864608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05  ·  Implementação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54864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2DD4BF"/>
                </a:solidFill>
                <a:latin typeface="Consolas"/>
              </a:rPr>
              <a:t>FELCONT · CONTABILIDADE, FINANÇAS E AUDITORIA</a:t>
            </a:r>
          </a:p>
        </p:txBody>
      </p:sp>
      <p:pic>
        <p:nvPicPr>
          <p:cNvPr id="31" name="Picture 30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