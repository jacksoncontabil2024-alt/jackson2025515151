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Sheet1!$A$2:$A$8</c:f>
              <c:strCache>
                <c:ptCount val="7"/>
                <c:pt idx="0">
                  <c:v>Receita
Bruta</c:v>
                </c:pt>
                <c:pt idx="1">
                  <c:v>(–) Deduções</c:v>
                </c:pt>
                <c:pt idx="2">
                  <c:v>Receita
Líquida</c:v>
                </c:pt>
                <c:pt idx="3">
                  <c:v>(–) Custos</c:v>
                </c:pt>
                <c:pt idx="4">
                  <c:v>Lucro
Bruto</c:v>
                </c:pt>
                <c:pt idx="5">
                  <c:v>(–) Despesas</c:v>
                </c:pt>
                <c:pt idx="6">
                  <c:v>Prejuízo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339734.2</c:v>
                </c:pt>
                <c:pt idx="2">
                  <c:v>0</c:v>
                </c:pt>
                <c:pt idx="3">
                  <c:v>37796.76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</c:v>
                </c:pt>
              </c:strCache>
            </c:strRef>
          </c:tx>
          <c:dPt>
            <c:idx val="0"/>
            <c:spPr>
              <a:solidFill>
                <a:srgbClr val="00A3E0"/>
              </a:solidFill>
              <a:ln w="952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F27E1F"/>
              </a:solidFill>
              <a:ln w="9525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00A3E0"/>
              </a:solidFill>
              <a:ln w="9525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F27E1F"/>
              </a:solidFill>
              <a:ln w="9525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2EA84F"/>
              </a:solidFill>
              <a:ln w="9525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F27E1F"/>
              </a:solidFill>
              <a:ln w="9525">
                <a:solidFill>
                  <a:srgbClr val="FFFFFF"/>
                </a:solidFill>
              </a:ln>
            </c:spPr>
          </c:dPt>
          <c:dPt>
            <c:idx val="6"/>
            <c:spPr>
              <a:solidFill>
                <a:srgbClr val="F1F5F8"/>
              </a:solidFill>
              <a:ln w="9525">
                <a:solidFill>
                  <a:srgbClr val="FFFFFF"/>
                </a:solidFill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2B3138"/>
                        </a:solidFill>
                        <a:latin typeface="Open Sans"/>
                      </a:rPr>
                      <a:t>R$ 366.795,54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2B3138"/>
                        </a:solidFill>
                        <a:latin typeface="Open Sans"/>
                      </a:rPr>
                      <a:t>R$ 27.061,34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2B3138"/>
                        </a:solidFill>
                        <a:latin typeface="Open Sans"/>
                      </a:rPr>
                      <a:t>R$ 339.734,20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Open Sans"/>
                      </a:rPr>
                      <a:t>R$ 301.937,44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2B3138"/>
                        </a:solidFill>
                        <a:latin typeface="Open Sans"/>
                      </a:rPr>
                      <a:t>R$ 37.796,76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Receita
Bruta</c:v>
                </c:pt>
                <c:pt idx="1">
                  <c:v>(–) Deduções</c:v>
                </c:pt>
                <c:pt idx="2">
                  <c:v>Receita
Líquida</c:v>
                </c:pt>
                <c:pt idx="3">
                  <c:v>(–) Custos</c:v>
                </c:pt>
                <c:pt idx="4">
                  <c:v>Lucro
Bruto</c:v>
                </c:pt>
                <c:pt idx="5">
                  <c:v>(–) Despesas</c:v>
                </c:pt>
                <c:pt idx="6">
                  <c:v>Prejuízo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366795.54</c:v>
                </c:pt>
                <c:pt idx="1">
                  <c:v>27061.339999999967</c:v>
                </c:pt>
                <c:pt idx="2">
                  <c:v>339734.2</c:v>
                </c:pt>
                <c:pt idx="3">
                  <c:v>301937.44</c:v>
                </c:pt>
                <c:pt idx="4">
                  <c:v>37796.76</c:v>
                </c:pt>
                <c:pt idx="5">
                  <c:v>37796.76</c:v>
                </c:pt>
                <c:pt idx="6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neg</c:v>
                </c:pt>
              </c:strCache>
            </c:strRef>
          </c:tx>
          <c:dPt>
            <c:idx val="0"/>
            <c:spPr>
              <a:solidFill>
                <a:srgbClr val="D13B3B"/>
              </a:solidFill>
              <a:ln w="952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D13B3B"/>
              </a:solidFill>
              <a:ln w="9525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D13B3B"/>
              </a:solidFill>
              <a:ln w="9525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D13B3B"/>
              </a:solidFill>
              <a:ln w="9525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D13B3B"/>
              </a:solidFill>
              <a:ln w="9525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F27E1F"/>
              </a:solidFill>
              <a:ln w="9525">
                <a:solidFill>
                  <a:srgbClr val="FFFFFF"/>
                </a:solidFill>
              </a:ln>
            </c:spPr>
          </c:dPt>
          <c:dPt>
            <c:idx val="6"/>
            <c:spPr>
              <a:solidFill>
                <a:srgbClr val="D13B3B"/>
              </a:solidFill>
              <a:ln w="9525">
                <a:solidFill>
                  <a:srgbClr val="FFFFFF"/>
                </a:solidFill>
              </a:ln>
            </c:spPr>
          </c:dPt>
          <c:dLbls>
            <c:dLbl>
              <c:idx val="5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Open Sans"/>
                      </a:rPr>
                      <a:t>R$ 394.936,02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Open Sans"/>
                      </a:rPr>
                      <a:t>-R$ 357.139,26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Receita
Bruta</c:v>
                </c:pt>
                <c:pt idx="1">
                  <c:v>(–) Deduções</c:v>
                </c:pt>
                <c:pt idx="2">
                  <c:v>Receita
Líquida</c:v>
                </c:pt>
                <c:pt idx="3">
                  <c:v>(–) Custos</c:v>
                </c:pt>
                <c:pt idx="4">
                  <c:v>Lucro
Bruto</c:v>
                </c:pt>
                <c:pt idx="5">
                  <c:v>(–) Despesas</c:v>
                </c:pt>
                <c:pt idx="6">
                  <c:v>Prejuízo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-357139.26</c:v>
                </c:pt>
                <c:pt idx="6">
                  <c:v>-357139.26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DE4EA"/>
            </a:solidFill>
          </a:ln>
        </c:spPr>
        <c:txPr>
          <a:bodyPr/>
          <a:lstStyle/>
          <a:p>
            <a:pPr>
              <a:defRPr sz="900" b="1">
                <a:solidFill>
                  <a:srgbClr val="2B3138"/>
                </a:solidFill>
                <a:latin typeface="Open Sa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DE4EA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6B747E"/>
                </a:solidFill>
                <a:latin typeface="Open San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Valores</c:v>
                </c:pt>
              </c:strCache>
            </c:strRef>
          </c:tx>
          <c:dPt>
            <c:idx val="0"/>
            <c:spPr>
              <a:solidFill>
                <a:srgbClr val="00A3E0"/>
              </a:solidFill>
            </c:spPr>
          </c:dPt>
          <c:dPt>
            <c:idx val="1"/>
            <c:spPr>
              <a:solidFill>
                <a:srgbClr val="F27E1F"/>
              </a:solidFill>
            </c:spPr>
          </c:dPt>
          <c:dPt>
            <c:idx val="2"/>
            <c:spPr>
              <a:solidFill>
                <a:srgbClr val="D13B3B"/>
              </a:solidFill>
            </c:spPr>
          </c:dPt>
          <c:cat>
            <c:strRef>
              <c:f>Sheet1!$A$2:$A$4</c:f>
              <c:strCache>
                <c:ptCount val="3"/>
                <c:pt idx="0">
                  <c:v>Receita Líquida</c:v>
                </c:pt>
                <c:pt idx="1">
                  <c:v>Custos</c:v>
                </c:pt>
                <c:pt idx="2">
                  <c:v>Despesas Operacionais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339734.2</c:v>
                </c:pt>
                <c:pt idx="1">
                  <c:v>301937.44</c:v>
                </c:pt>
                <c:pt idx="2">
                  <c:v>394936.02</c:v>
                </c:pt>
              </c:numCache>
            </c:numRef>
          </c:val>
        </c:ser>
        <c:dLbls>
          <c:numFmt formatCode="&quot;R$ &quot;#,##0.00" sourceLinked="0"/>
          <c:txPr>
            <a:bodyPr/>
            <a:lstStyle/>
            <a:p>
              <a:pPr>
                <a:defRPr sz="1000" b="1">
                  <a:solidFill>
                    <a:srgbClr val="2B3138"/>
                  </a:solidFill>
                  <a:latin typeface="Open Sa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DE4EA"/>
            </a:solidFill>
          </a:ln>
        </c:spPr>
        <c:txPr>
          <a:bodyPr/>
          <a:lstStyle/>
          <a:p>
            <a:pPr>
              <a:defRPr sz="950" b="1">
                <a:solidFill>
                  <a:srgbClr val="2B313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DE4EA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6B747E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955279" y="0"/>
            <a:ext cx="4236415" cy="6858000"/>
          </a:xfrm>
          <a:prstGeom prst="rect">
            <a:avLst/>
          </a:prstGeom>
          <a:solidFill>
            <a:srgbClr val="0F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55279" y="0"/>
            <a:ext cx="91440" cy="6858000"/>
          </a:xfrm>
          <a:prstGeom prst="rect">
            <a:avLst/>
          </a:prstGeom>
          <a:solidFill>
            <a:srgbClr val="00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366760" y="4206240"/>
            <a:ext cx="457200" cy="1005840"/>
          </a:xfrm>
          <a:prstGeom prst="roundRect">
            <a:avLst>
              <a:gd name="adj" fmla="val 18000"/>
            </a:avLst>
          </a:prstGeom>
          <a:solidFill>
            <a:srgbClr val="006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06840" y="3657600"/>
            <a:ext cx="457200" cy="1554480"/>
          </a:xfrm>
          <a:prstGeom prst="roundRect">
            <a:avLst>
              <a:gd name="adj" fmla="val 18000"/>
            </a:avLst>
          </a:prstGeom>
          <a:solidFill>
            <a:srgbClr val="00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46920" y="3886200"/>
            <a:ext cx="457200" cy="1325880"/>
          </a:xfrm>
          <a:prstGeom prst="roundRect">
            <a:avLst>
              <a:gd name="adj" fmla="val 18000"/>
            </a:avLst>
          </a:prstGeom>
          <a:solidFill>
            <a:srgbClr val="006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7000" y="3063240"/>
            <a:ext cx="457200" cy="2148840"/>
          </a:xfrm>
          <a:prstGeom prst="roundRect">
            <a:avLst>
              <a:gd name="adj" fmla="val 18000"/>
            </a:avLst>
          </a:prstGeom>
          <a:solidFill>
            <a:srgbClr val="00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927080" y="2468880"/>
            <a:ext cx="457200" cy="2743200"/>
          </a:xfrm>
          <a:prstGeom prst="roundRect">
            <a:avLst>
              <a:gd name="adj" fmla="val 18000"/>
            </a:avLst>
          </a:prstGeom>
          <a:solidFill>
            <a:srgbClr val="00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V="1">
            <a:off x="8595360" y="3520440"/>
            <a:ext cx="640080" cy="548639"/>
          </a:xfrm>
          <a:prstGeom prst="bentConnector3">
            <a:avLst/>
          </a:prstGeom>
          <a:ln w="28575">
            <a:solidFill>
              <a:srgbClr val="F27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235440" y="3520440"/>
            <a:ext cx="640080" cy="228599"/>
          </a:xfrm>
          <a:prstGeom prst="bentConnector3">
            <a:avLst/>
          </a:prstGeom>
          <a:ln w="28575">
            <a:solidFill>
              <a:srgbClr val="F27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9875520" y="2926080"/>
            <a:ext cx="640080" cy="822959"/>
          </a:xfrm>
          <a:prstGeom prst="bentConnector3">
            <a:avLst/>
          </a:prstGeom>
          <a:ln w="28575">
            <a:solidFill>
              <a:srgbClr val="F27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0515600" y="2331720"/>
            <a:ext cx="640080" cy="594360"/>
          </a:xfrm>
          <a:prstGeom prst="bentConnector3">
            <a:avLst/>
          </a:prstGeom>
          <a:ln w="28575">
            <a:solidFill>
              <a:srgbClr val="F27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8540496" y="4014215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80576" y="346557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20656" y="369417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460736" y="287121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100815" y="227685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64008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0A3E0"/>
                </a:solidFill>
                <a:latin typeface="Roboto"/>
              </a:rPr>
              <a:t>FEL</a:t>
            </a:r>
            <a:r>
              <a:rPr sz="2600" b="1">
                <a:solidFill>
                  <a:srgbClr val="FFFFFF"/>
                </a:solidFill>
                <a:latin typeface="Roboto"/>
              </a:rPr>
              <a:t>CONT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Open Sans"/>
              </a:rPr>
              <a:t>CONTABILIDADE  ·  FINANÇAS  ·  AUDITORIA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33172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0A3E0"/>
                </a:solidFill>
                <a:latin typeface="Open Sans"/>
              </a:rPr>
              <a:t>ANÁLISE GERENCIAL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2788920"/>
            <a:ext cx="7315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Roboto"/>
              </a:rPr>
              <a:t>Demonstração 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Roboto"/>
              </a:rPr>
              <a:t>Resultado do Exercício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4434840"/>
            <a:ext cx="1371600" cy="54864"/>
          </a:xfrm>
          <a:prstGeom prst="rect">
            <a:avLst/>
          </a:prstGeom>
          <a:solidFill>
            <a:srgbClr val="F27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709160"/>
            <a:ext cx="7315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6B747E"/>
                </a:solidFill>
                <a:latin typeface="Open Sans"/>
              </a:rPr>
              <a:t>Cliente:  </a:t>
            </a:r>
            <a:r>
              <a:rPr sz="1400" b="1">
                <a:solidFill>
                  <a:srgbClr val="FFFFFF"/>
                </a:solidFill>
                <a:latin typeface="Open Sans"/>
              </a:rPr>
              <a:t>Ronaldo Donadon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6B747E"/>
                </a:solidFill>
                <a:latin typeface="Open Sans"/>
              </a:rPr>
              <a:t>Período:  </a:t>
            </a:r>
            <a:r>
              <a:rPr sz="1400" b="1">
                <a:solidFill>
                  <a:srgbClr val="FFFFFF"/>
                </a:solidFill>
                <a:latin typeface="Open Sans"/>
              </a:rPr>
              <a:t>Janeiro a Julho de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217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A3E0"/>
                </a:solidFill>
                <a:latin typeface="Open Sans"/>
              </a:rPr>
              <a:t>Informação contábil transformada em decisão.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0A3E0"/>
                </a:solidFill>
                <a:latin typeface="Open Sans"/>
              </a:rPr>
              <a:t>PANORAMA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2B3138"/>
                </a:solidFill>
                <a:latin typeface="Roboto"/>
              </a:rPr>
              <a:t>Visão Geral do Resultado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81328"/>
            <a:ext cx="1188720" cy="54864"/>
          </a:xfrm>
          <a:prstGeom prst="rect">
            <a:avLst/>
          </a:prstGeom>
          <a:solidFill>
            <a:srgbClr val="F27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DDE4EA"/>
                </a:solidFill>
                <a:latin typeface="Roboto"/>
              </a:rPr>
              <a:t>02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DE4EA"/>
                </a:solidFill>
                <a:latin typeface="Open Sans"/>
              </a:rPr>
              <a:t>/ 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3514344" cy="1170432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82296" cy="1170432"/>
          </a:xfrm>
          <a:prstGeom prst="rect">
            <a:avLst/>
          </a:prstGeom>
          <a:solidFill>
            <a:srgbClr val="00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29384"/>
            <a:ext cx="31485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747E"/>
                </a:solidFill>
                <a:latin typeface="Open Sans"/>
              </a:rPr>
              <a:t>Receita Op. Bruta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31485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2B3138"/>
                </a:solidFill>
                <a:latin typeface="Roboto"/>
              </a:rPr>
              <a:t>R$ 366.795,54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79191"/>
            <a:ext cx="31485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747E"/>
                </a:solidFill>
                <a:latin typeface="Open Sans"/>
              </a:rPr>
              <a:t>Faturamento bruto do período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7304" y="1783080"/>
            <a:ext cx="3514344" cy="1170432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7304" y="1783080"/>
            <a:ext cx="82296" cy="1170432"/>
          </a:xfrm>
          <a:prstGeom prst="rect">
            <a:avLst/>
          </a:prstGeom>
          <a:solidFill>
            <a:srgbClr val="F27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3336" y="1929384"/>
            <a:ext cx="31485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747E"/>
                </a:solidFill>
                <a:latin typeface="Open Sans"/>
              </a:rPr>
              <a:t>(–) Deduções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3336" y="2240280"/>
            <a:ext cx="31485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2B3138"/>
                </a:solidFill>
                <a:latin typeface="Roboto"/>
              </a:rPr>
              <a:t>R$ 27.061,34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3336" y="2679191"/>
            <a:ext cx="31485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747E"/>
                </a:solidFill>
                <a:latin typeface="Open Sans"/>
              </a:rPr>
              <a:t>Impostos e deduções s/ receita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7679" y="1783080"/>
            <a:ext cx="3514344" cy="1170432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7679" y="1783080"/>
            <a:ext cx="82296" cy="1170432"/>
          </a:xfrm>
          <a:prstGeom prst="rect">
            <a:avLst/>
          </a:prstGeom>
          <a:solidFill>
            <a:srgbClr val="00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3711" y="1929384"/>
            <a:ext cx="31485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747E"/>
                </a:solidFill>
                <a:latin typeface="Open Sans"/>
              </a:rPr>
              <a:t>Receita Líquida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3711" y="2240280"/>
            <a:ext cx="31485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2B3138"/>
                </a:solidFill>
                <a:latin typeface="Roboto"/>
              </a:rPr>
              <a:t>R$ 339.734,20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3711" y="2679191"/>
            <a:ext cx="31485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747E"/>
                </a:solidFill>
                <a:latin typeface="Open Sans"/>
              </a:rPr>
              <a:t>Base operacional líquida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172968"/>
            <a:ext cx="3514344" cy="1170432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3172968"/>
            <a:ext cx="82296" cy="1170432"/>
          </a:xfrm>
          <a:prstGeom prst="rect">
            <a:avLst/>
          </a:prstGeom>
          <a:solidFill>
            <a:srgbClr val="F27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319272"/>
            <a:ext cx="31485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747E"/>
                </a:solidFill>
                <a:latin typeface="Open Sans"/>
              </a:rPr>
              <a:t>(–) Custos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630168"/>
            <a:ext cx="31485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2B3138"/>
                </a:solidFill>
                <a:latin typeface="Roboto"/>
              </a:rPr>
              <a:t>R$ 301.937,44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069079"/>
            <a:ext cx="31485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747E"/>
                </a:solidFill>
                <a:latin typeface="Open Sans"/>
              </a:rPr>
              <a:t>Custos dos serviços/produtos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37304" y="3172968"/>
            <a:ext cx="3514344" cy="1170432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37304" y="3172968"/>
            <a:ext cx="82296" cy="1170432"/>
          </a:xfrm>
          <a:prstGeom prst="rect">
            <a:avLst/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93336" y="3319272"/>
            <a:ext cx="31485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747E"/>
                </a:solidFill>
                <a:latin typeface="Open Sans"/>
              </a:rPr>
              <a:t>Lucro Bruto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3336" y="3630168"/>
            <a:ext cx="31485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2B3138"/>
                </a:solidFill>
                <a:latin typeface="Roboto"/>
              </a:rPr>
              <a:t>R$ 37.796,76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93336" y="4069079"/>
            <a:ext cx="31485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747E"/>
                </a:solidFill>
                <a:latin typeface="Open Sans"/>
              </a:rPr>
              <a:t>Receita líquida – custos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07679" y="3172968"/>
            <a:ext cx="3514344" cy="1170432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07679" y="3172968"/>
            <a:ext cx="82296" cy="1170432"/>
          </a:xfrm>
          <a:prstGeom prst="rect">
            <a:avLst/>
          </a:prstGeom>
          <a:solidFill>
            <a:srgbClr val="F27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3711" y="3319272"/>
            <a:ext cx="31485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747E"/>
                </a:solidFill>
                <a:latin typeface="Open Sans"/>
              </a:rPr>
              <a:t>(–) Despesas Operacionais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3711" y="3630168"/>
            <a:ext cx="31485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2B3138"/>
                </a:solidFill>
                <a:latin typeface="Roboto"/>
              </a:rPr>
              <a:t>R$ 394.936,02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3711" y="4069079"/>
            <a:ext cx="31485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747E"/>
                </a:solidFill>
                <a:latin typeface="Open Sans"/>
              </a:rPr>
              <a:t>Vendas, adm., financ. e tributárias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4581144"/>
            <a:ext cx="11055096" cy="1207008"/>
          </a:xfrm>
          <a:prstGeom prst="roundRect">
            <a:avLst>
              <a:gd name="adj" fmla="val 5000"/>
            </a:avLst>
          </a:prstGeom>
          <a:solidFill>
            <a:srgbClr val="FBECEC"/>
          </a:solidFill>
          <a:ln w="15875">
            <a:solidFill>
              <a:srgbClr val="D1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6928" y="4581144"/>
            <a:ext cx="128016" cy="1207008"/>
          </a:xfrm>
          <a:prstGeom prst="rect">
            <a:avLst/>
          </a:prstGeom>
          <a:solidFill>
            <a:srgbClr val="D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32688" y="4965192"/>
            <a:ext cx="457200" cy="457200"/>
          </a:xfrm>
          <a:prstGeom prst="ellipse">
            <a:avLst/>
          </a:prstGeom>
          <a:solidFill>
            <a:srgbClr val="D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2688" y="5001768"/>
            <a:ext cx="457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Roboto"/>
              </a:rPr>
              <a:t>!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18488" y="4800600"/>
            <a:ext cx="6400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D13B3B"/>
                </a:solidFill>
                <a:latin typeface="Open Sans"/>
              </a:rPr>
              <a:t>RESULTADO LÍQUIDO DO PERÍODO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2B3138"/>
                </a:solidFill>
                <a:latin typeface="Open Sans"/>
              </a:rPr>
              <a:t>Prejuízo apurado — exige atenção gerencial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4745736"/>
            <a:ext cx="44805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D13B3B"/>
                </a:solidFill>
                <a:latin typeface="Open Sans"/>
              </a:rPr>
              <a:t>PREJUÍZO</a:t>
            </a:r>
          </a:p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D13B3B"/>
                </a:solidFill>
                <a:latin typeface="Roboto"/>
              </a:rPr>
              <a:t>–R$ 357.139,26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" y="6382512"/>
            <a:ext cx="11055096" cy="10972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6928" y="6455664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747E"/>
                </a:solidFill>
                <a:latin typeface="Open Sans"/>
              </a:rPr>
              <a:t>Despesas Operacionais incluem Vendas, Administrativas, Financeiras (líquidas) e Tributárias. Fonte: DRE e Balancete do período.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97135" y="6455664"/>
            <a:ext cx="1627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0A3E0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0A3E0"/>
                </a:solidFill>
                <a:latin typeface="Open Sans"/>
              </a:rPr>
              <a:t>PONTE DO RESULTADO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2B3138"/>
                </a:solidFill>
                <a:latin typeface="Roboto"/>
              </a:rPr>
              <a:t>Formação do Resultado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81328"/>
            <a:ext cx="1188720" cy="54864"/>
          </a:xfrm>
          <a:prstGeom prst="rect">
            <a:avLst/>
          </a:prstGeom>
          <a:solidFill>
            <a:srgbClr val="F27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DDE4EA"/>
                </a:solidFill>
                <a:latin typeface="Roboto"/>
              </a:rPr>
              <a:t>03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DE4EA"/>
                </a:solidFill>
                <a:latin typeface="Open Sans"/>
              </a:rPr>
              <a:t>/ 09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66928" y="1828800"/>
          <a:ext cx="11055096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6382512"/>
            <a:ext cx="11055096" cy="10972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455664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747E"/>
                </a:solidFill>
                <a:latin typeface="Open Sans"/>
              </a:rPr>
              <a:t>Cascata: Receita Bruta → Deduções → Receita Líquida → Custos → Lucro Bruto → (–) Despesas Op. → Prejuízo.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7135" y="6455664"/>
            <a:ext cx="1627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0A3E0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0A3E0"/>
                </a:solidFill>
                <a:latin typeface="Open Sans"/>
              </a:rPr>
              <a:t>COMPARATIVO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2B3138"/>
                </a:solidFill>
                <a:latin typeface="Roboto"/>
              </a:rPr>
              <a:t>Receita x Custos e Despesas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81328"/>
            <a:ext cx="1188720" cy="54864"/>
          </a:xfrm>
          <a:prstGeom prst="rect">
            <a:avLst/>
          </a:prstGeom>
          <a:solidFill>
            <a:srgbClr val="F27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DDE4EA"/>
                </a:solidFill>
                <a:latin typeface="Roboto"/>
              </a:rPr>
              <a:t>04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DE4EA"/>
                </a:solidFill>
                <a:latin typeface="Open Sans"/>
              </a:rPr>
              <a:t>/ 09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66928" y="1828800"/>
          <a:ext cx="667512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98079" y="1828800"/>
            <a:ext cx="4114800" cy="3749039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79" y="1828800"/>
            <a:ext cx="4114800" cy="82296"/>
          </a:xfrm>
          <a:prstGeom prst="rect">
            <a:avLst/>
          </a:prstGeom>
          <a:solidFill>
            <a:srgbClr val="D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19" y="214884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D13B3B"/>
                </a:solidFill>
                <a:latin typeface="Open Sans"/>
              </a:rPr>
              <a:t>LEITURA DO GRÁFICO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19" y="2606040"/>
            <a:ext cx="352044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2B3138"/>
                </a:solidFill>
                <a:latin typeface="Open Sans"/>
              </a:rPr>
              <a:t>A soma de Custos e Despesas </a:t>
            </a:r>
            <a:r>
              <a:rPr sz="1250" b="1">
                <a:solidFill>
                  <a:srgbClr val="D13B3B"/>
                </a:solidFill>
                <a:latin typeface="Open Sans"/>
              </a:rPr>
              <a:t>supera em muito </a:t>
            </a:r>
            <a:r>
              <a:rPr sz="1250" b="0">
                <a:solidFill>
                  <a:srgbClr val="2B3138"/>
                </a:solidFill>
                <a:latin typeface="Open Sans"/>
              </a:rPr>
              <a:t>a Receita Líquida do período.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600" b="0">
                <a:solidFill>
                  <a:srgbClr val="2B3138"/>
                </a:solidFill>
                <a:latin typeface="Open Sans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6B747E"/>
                </a:solidFill>
                <a:latin typeface="Open Sans"/>
              </a:rPr>
              <a:t>Custos + Despesas: </a:t>
            </a:r>
            <a:r>
              <a:rPr sz="1100" b="1">
                <a:solidFill>
                  <a:srgbClr val="2B3138"/>
                </a:solidFill>
                <a:latin typeface="Open Sans"/>
              </a:rPr>
              <a:t>R$ 696.873,46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6B747E"/>
                </a:solidFill>
                <a:latin typeface="Open Sans"/>
              </a:rPr>
              <a:t>Receita Líquida: </a:t>
            </a:r>
            <a:r>
              <a:rPr sz="1100" b="1">
                <a:solidFill>
                  <a:srgbClr val="2B3138"/>
                </a:solidFill>
                <a:latin typeface="Open Sans"/>
              </a:rPr>
              <a:t>R$ 339.734,20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600" b="0">
                <a:solidFill>
                  <a:srgbClr val="2B3138"/>
                </a:solidFill>
                <a:latin typeface="Open Sans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B3138"/>
                </a:solidFill>
                <a:latin typeface="Open Sans"/>
              </a:rPr>
              <a:t>Estrutura de gastos incompatível com a geração de receita atual — resultado operacional deficitário.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382512"/>
            <a:ext cx="11055096" cy="10972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455664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747E"/>
                </a:solidFill>
                <a:latin typeface="Open Sans"/>
              </a:rPr>
              <a:t>Valores em R$. Fonte: DRE do período (Jan–Jul/2026).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97135" y="6455664"/>
            <a:ext cx="1627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0A3E0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0A3E0"/>
                </a:solidFill>
                <a:latin typeface="Open Sans"/>
              </a:rPr>
              <a:t>ALERTA CONTÁBIL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2B3138"/>
                </a:solidFill>
                <a:latin typeface="Roboto"/>
              </a:rPr>
              <a:t>Saldos Invertidos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81328"/>
            <a:ext cx="1188720" cy="54864"/>
          </a:xfrm>
          <a:prstGeom prst="rect">
            <a:avLst/>
          </a:prstGeom>
          <a:solidFill>
            <a:srgbClr val="F27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DDE4EA"/>
                </a:solidFill>
                <a:latin typeface="Roboto"/>
              </a:rPr>
              <a:t>05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DE4EA"/>
                </a:solidFill>
                <a:latin typeface="Open Sans"/>
              </a:rPr>
              <a:t>/ 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394960" cy="3246120"/>
          </a:xfrm>
          <a:prstGeom prst="roundRect">
            <a:avLst>
              <a:gd name="adj" fmla="val 4000"/>
            </a:avLst>
          </a:prstGeom>
          <a:solidFill>
            <a:srgbClr val="FFF6E9"/>
          </a:solidFill>
          <a:ln w="15875">
            <a:solidFill>
              <a:srgbClr val="F27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828800"/>
            <a:ext cx="5394960" cy="91440"/>
          </a:xfrm>
          <a:prstGeom prst="rect">
            <a:avLst/>
          </a:prstGeom>
          <a:solidFill>
            <a:srgbClr val="F27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1488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6B747E"/>
                </a:solidFill>
                <a:latin typeface="Open Sans"/>
              </a:rPr>
              <a:t>CONTA </a:t>
            </a:r>
            <a:r>
              <a:rPr sz="1300" b="1">
                <a:solidFill>
                  <a:srgbClr val="F27E1F"/>
                </a:solidFill>
                <a:latin typeface="Open Sans"/>
              </a:rPr>
              <a:t>140</a:t>
            </a:r>
            <a:r>
              <a:rPr sz="1300" b="1">
                <a:solidFill>
                  <a:srgbClr val="6B747E"/>
                </a:solidFill>
                <a:latin typeface="Open Sans"/>
              </a:rPr>
              <a:t>  ·  </a:t>
            </a:r>
            <a:r>
              <a:rPr sz="1300" b="1">
                <a:solidFill>
                  <a:srgbClr val="2B3138"/>
                </a:solidFill>
                <a:latin typeface="Open Sans"/>
              </a:rPr>
              <a:t>Clientes (grupo)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60604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47E"/>
                </a:solidFill>
                <a:latin typeface="Open Sans"/>
              </a:rPr>
              <a:t>Saldo invertido (sintética)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907791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27E1F"/>
                </a:solidFill>
                <a:latin typeface="Roboto"/>
              </a:rPr>
              <a:t>R$ 1.123.648,52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611880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6B747E"/>
                </a:solidFill>
                <a:latin typeface="Open Sans"/>
              </a:rPr>
              <a:t>Grupo: </a:t>
            </a:r>
            <a:r>
              <a:rPr sz="1000" b="1">
                <a:solidFill>
                  <a:srgbClr val="2B3138"/>
                </a:solidFill>
                <a:latin typeface="Open Sans"/>
              </a:rPr>
              <a:t>ATIVO</a:t>
            </a:r>
            <a:r>
              <a:rPr sz="1000" b="1">
                <a:solidFill>
                  <a:srgbClr val="6B747E"/>
                </a:solidFill>
                <a:latin typeface="Open Sans"/>
              </a:rPr>
              <a:t>   |   Natureza esperada: </a:t>
            </a:r>
            <a:r>
              <a:rPr sz="1000" b="1">
                <a:solidFill>
                  <a:srgbClr val="2B3138"/>
                </a:solidFill>
                <a:latin typeface="Open Sans"/>
              </a:rPr>
              <a:t>devedora</a:t>
            </a:r>
            <a:r>
              <a:rPr sz="1000" b="1">
                <a:solidFill>
                  <a:srgbClr val="6B747E"/>
                </a:solidFill>
                <a:latin typeface="Open Sans"/>
              </a:rPr>
              <a:t>   |   Apresentada: </a:t>
            </a:r>
            <a:r>
              <a:rPr sz="1000" b="1">
                <a:solidFill>
                  <a:srgbClr val="D13B3B"/>
                </a:solidFill>
                <a:latin typeface="Open Sans"/>
              </a:rPr>
              <a:t>credora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023360"/>
            <a:ext cx="4663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B3138"/>
                </a:solidFill>
                <a:latin typeface="Open Sans"/>
              </a:rPr>
              <a:t>Conta de Ativo com natureza normalmente devedora apresentando saldo credor.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7064" y="1828800"/>
            <a:ext cx="5394960" cy="3246120"/>
          </a:xfrm>
          <a:prstGeom prst="roundRect">
            <a:avLst>
              <a:gd name="adj" fmla="val 4000"/>
            </a:avLst>
          </a:prstGeom>
          <a:solidFill>
            <a:srgbClr val="FFF6E9"/>
          </a:solidFill>
          <a:ln w="15875">
            <a:solidFill>
              <a:srgbClr val="F27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27064" y="1828800"/>
            <a:ext cx="5394960" cy="91440"/>
          </a:xfrm>
          <a:prstGeom prst="rect">
            <a:avLst/>
          </a:prstGeom>
          <a:solidFill>
            <a:srgbClr val="F27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92824" y="21488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6B747E"/>
                </a:solidFill>
                <a:latin typeface="Open Sans"/>
              </a:rPr>
              <a:t>CONTA </a:t>
            </a:r>
            <a:r>
              <a:rPr sz="1300" b="1">
                <a:solidFill>
                  <a:srgbClr val="F27E1F"/>
                </a:solidFill>
                <a:latin typeface="Open Sans"/>
              </a:rPr>
              <a:t>1494</a:t>
            </a:r>
            <a:r>
              <a:rPr sz="1300" b="1">
                <a:solidFill>
                  <a:srgbClr val="6B747E"/>
                </a:solidFill>
                <a:latin typeface="Open Sans"/>
              </a:rPr>
              <a:t>  ·  </a:t>
            </a:r>
            <a:r>
              <a:rPr sz="1300" b="1">
                <a:solidFill>
                  <a:srgbClr val="2B3138"/>
                </a:solidFill>
                <a:latin typeface="Open Sans"/>
              </a:rPr>
              <a:t>Fornecedores (grupo)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2824" y="260604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47E"/>
                </a:solidFill>
                <a:latin typeface="Open Sans"/>
              </a:rPr>
              <a:t>Saldo invertido (sintética)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2824" y="2907791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27E1F"/>
                </a:solidFill>
                <a:latin typeface="Roboto"/>
              </a:rPr>
              <a:t>R$ 441.904,06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92824" y="3611880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6B747E"/>
                </a:solidFill>
                <a:latin typeface="Open Sans"/>
              </a:rPr>
              <a:t>Grupo: </a:t>
            </a:r>
            <a:r>
              <a:rPr sz="1000" b="1">
                <a:solidFill>
                  <a:srgbClr val="2B3138"/>
                </a:solidFill>
                <a:latin typeface="Open Sans"/>
              </a:rPr>
              <a:t>PASSIVO</a:t>
            </a:r>
            <a:r>
              <a:rPr sz="1000" b="1">
                <a:solidFill>
                  <a:srgbClr val="6B747E"/>
                </a:solidFill>
                <a:latin typeface="Open Sans"/>
              </a:rPr>
              <a:t>   |   Natureza esperada: </a:t>
            </a:r>
            <a:r>
              <a:rPr sz="1000" b="1">
                <a:solidFill>
                  <a:srgbClr val="2B3138"/>
                </a:solidFill>
                <a:latin typeface="Open Sans"/>
              </a:rPr>
              <a:t>credora</a:t>
            </a:r>
            <a:r>
              <a:rPr sz="1000" b="1">
                <a:solidFill>
                  <a:srgbClr val="6B747E"/>
                </a:solidFill>
                <a:latin typeface="Open Sans"/>
              </a:rPr>
              <a:t>   |   Apresentada: </a:t>
            </a:r>
            <a:r>
              <a:rPr sz="1000" b="1">
                <a:solidFill>
                  <a:srgbClr val="D13B3B"/>
                </a:solidFill>
                <a:latin typeface="Open Sans"/>
              </a:rPr>
              <a:t>devedora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2824" y="4023360"/>
            <a:ext cx="4663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B3138"/>
                </a:solidFill>
                <a:latin typeface="Open Sans"/>
              </a:rPr>
              <a:t>Conta de Passivo com natureza normalmente credora apresentando saldo devedor.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46120" y="5650992"/>
            <a:ext cx="5669280" cy="566928"/>
          </a:xfrm>
          <a:prstGeom prst="roundRect">
            <a:avLst>
              <a:gd name="adj" fmla="val 50000"/>
            </a:avLst>
          </a:prstGeom>
          <a:solidFill>
            <a:srgbClr val="D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46120" y="5650992"/>
            <a:ext cx="5669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Open Sans"/>
              </a:rPr>
              <a:t>⚑  NECESSIDADE DE CONCILIAÇÃO IMEDIATA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382512"/>
            <a:ext cx="11055096" cy="10972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455664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747E"/>
                </a:solidFill>
                <a:latin typeface="Open Sans"/>
              </a:rPr>
              <a:t>140 e 1494 são contas sintéticas (grupo). Saldo invertido é indício que exige conciliação — não constitui, por si, prova de irregularidade.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97135" y="6455664"/>
            <a:ext cx="1627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0A3E0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0A3E0"/>
                </a:solidFill>
                <a:latin typeface="Open Sans"/>
              </a:rPr>
              <a:t>INTERPRETAÇÃO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2B3138"/>
                </a:solidFill>
                <a:latin typeface="Roboto"/>
              </a:rPr>
              <a:t>O que os saldos podem indicar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81328"/>
            <a:ext cx="1188720" cy="54864"/>
          </a:xfrm>
          <a:prstGeom prst="rect">
            <a:avLst/>
          </a:prstGeom>
          <a:solidFill>
            <a:srgbClr val="F27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DDE4EA"/>
                </a:solidFill>
                <a:latin typeface="Roboto"/>
              </a:rPr>
              <a:t>06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DE4EA"/>
                </a:solidFill>
                <a:latin typeface="Open Sans"/>
              </a:rPr>
              <a:t>/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20240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0A3E0"/>
                </a:solidFill>
                <a:latin typeface="Open Sans"/>
              </a:rPr>
              <a:t>COMPRA</a:t>
            </a:r>
          </a:p>
        </p:txBody>
      </p:sp>
      <p:sp>
        <p:nvSpPr>
          <p:cNvPr id="9" name="Chevron 8"/>
          <p:cNvSpPr/>
          <p:nvPr/>
        </p:nvSpPr>
        <p:spPr>
          <a:xfrm>
            <a:off x="2377440" y="1920240"/>
            <a:ext cx="2743200" cy="566928"/>
          </a:xfrm>
          <a:prstGeom prst="chevron">
            <a:avLst/>
          </a:prstGeom>
          <a:solidFill>
            <a:srgbClr val="00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1920240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Open Sans"/>
              </a:rPr>
              <a:t>Documento fiscal (NF)</a:t>
            </a:r>
          </a:p>
        </p:txBody>
      </p:sp>
      <p:sp>
        <p:nvSpPr>
          <p:cNvPr id="11" name="Chevron 10"/>
          <p:cNvSpPr/>
          <p:nvPr/>
        </p:nvSpPr>
        <p:spPr>
          <a:xfrm>
            <a:off x="5257800" y="1920240"/>
            <a:ext cx="2743200" cy="566928"/>
          </a:xfrm>
          <a:prstGeom prst="chevron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40680" y="1920240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B3138"/>
                </a:solidFill>
                <a:latin typeface="Open Sans"/>
              </a:rPr>
              <a:t>Lançamento contábil</a:t>
            </a:r>
          </a:p>
        </p:txBody>
      </p:sp>
      <p:sp>
        <p:nvSpPr>
          <p:cNvPr id="13" name="Chevron 12"/>
          <p:cNvSpPr/>
          <p:nvPr/>
        </p:nvSpPr>
        <p:spPr>
          <a:xfrm>
            <a:off x="8138160" y="1920240"/>
            <a:ext cx="2743200" cy="566928"/>
          </a:xfrm>
          <a:prstGeom prst="chevron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920240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B3138"/>
                </a:solidFill>
                <a:latin typeface="Open Sans"/>
              </a:rPr>
              <a:t>Financeiro (pagar)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743200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EA84F"/>
                </a:solidFill>
                <a:latin typeface="Open Sans"/>
              </a:rPr>
              <a:t>VENDA</a:t>
            </a:r>
          </a:p>
        </p:txBody>
      </p:sp>
      <p:sp>
        <p:nvSpPr>
          <p:cNvPr id="16" name="Chevron 15"/>
          <p:cNvSpPr/>
          <p:nvPr/>
        </p:nvSpPr>
        <p:spPr>
          <a:xfrm>
            <a:off x="2377440" y="2743200"/>
            <a:ext cx="2743200" cy="566928"/>
          </a:xfrm>
          <a:prstGeom prst="chevron">
            <a:avLst/>
          </a:prstGeom>
          <a:solidFill>
            <a:srgbClr val="2E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0" y="2743200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Open Sans"/>
              </a:rPr>
              <a:t>Documento fiscal (NF)</a:t>
            </a:r>
          </a:p>
        </p:txBody>
      </p:sp>
      <p:sp>
        <p:nvSpPr>
          <p:cNvPr id="18" name="Chevron 17"/>
          <p:cNvSpPr/>
          <p:nvPr/>
        </p:nvSpPr>
        <p:spPr>
          <a:xfrm>
            <a:off x="5257800" y="2743200"/>
            <a:ext cx="2743200" cy="566928"/>
          </a:xfrm>
          <a:prstGeom prst="chevron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40680" y="2743200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B3138"/>
                </a:solidFill>
                <a:latin typeface="Open Sans"/>
              </a:rPr>
              <a:t>Lançamento contábil</a:t>
            </a:r>
          </a:p>
        </p:txBody>
      </p:sp>
      <p:sp>
        <p:nvSpPr>
          <p:cNvPr id="20" name="Chevron 19"/>
          <p:cNvSpPr/>
          <p:nvPr/>
        </p:nvSpPr>
        <p:spPr>
          <a:xfrm>
            <a:off x="8138160" y="2743200"/>
            <a:ext cx="2743200" cy="566928"/>
          </a:xfrm>
          <a:prstGeom prst="chevron">
            <a:avLst/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2743200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B3138"/>
                </a:solidFill>
                <a:latin typeface="Open Sans"/>
              </a:rPr>
              <a:t>Financeiro (receber)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342900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747E"/>
                </a:solidFill>
                <a:latin typeface="Open Sans"/>
              </a:rPr>
              <a:t>Quando o ciclo documento → lançamento → financeiro não fecha, o saldo pode inverter.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977639"/>
            <a:ext cx="11055096" cy="2148840"/>
          </a:xfrm>
          <a:prstGeom prst="roundRect">
            <a:avLst>
              <a:gd name="adj" fmla="val 4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3977639"/>
            <a:ext cx="82296" cy="2148840"/>
          </a:xfrm>
          <a:prstGeom prst="rect">
            <a:avLst/>
          </a:prstGeom>
          <a:solidFill>
            <a:srgbClr val="F27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1605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27E1F"/>
                </a:solidFill>
                <a:latin typeface="Open Sans"/>
              </a:rPr>
              <a:t>POSSÍVEIS CAUSAS A INVESTIGAR (hipóteses, não conclusões)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" y="4626864"/>
            <a:ext cx="109728" cy="109728"/>
          </a:xfrm>
          <a:prstGeom prst="ellipse">
            <a:avLst/>
          </a:prstGeom>
          <a:solidFill>
            <a:srgbClr val="F27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24712" y="457200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2B3138"/>
                </a:solidFill>
                <a:latin typeface="Open Sans"/>
              </a:rPr>
              <a:t>Recebimentos/pagamentos lançados sem o respectivo título de origem.</a:t>
            </a:r>
          </a:p>
        </p:txBody>
      </p:sp>
      <p:sp>
        <p:nvSpPr>
          <p:cNvPr id="28" name="Oval 27"/>
          <p:cNvSpPr/>
          <p:nvPr/>
        </p:nvSpPr>
        <p:spPr>
          <a:xfrm>
            <a:off x="868680" y="5102351"/>
            <a:ext cx="109728" cy="109728"/>
          </a:xfrm>
          <a:prstGeom prst="ellipse">
            <a:avLst/>
          </a:prstGeom>
          <a:solidFill>
            <a:srgbClr val="F27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24712" y="504748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2B3138"/>
                </a:solidFill>
                <a:latin typeface="Open Sans"/>
              </a:rPr>
              <a:t>Baixas em duplicidade ou baixa superior ao valor original do título.</a:t>
            </a:r>
          </a:p>
        </p:txBody>
      </p:sp>
      <p:sp>
        <p:nvSpPr>
          <p:cNvPr id="30" name="Oval 29"/>
          <p:cNvSpPr/>
          <p:nvPr/>
        </p:nvSpPr>
        <p:spPr>
          <a:xfrm>
            <a:off x="868680" y="5577840"/>
            <a:ext cx="109728" cy="109728"/>
          </a:xfrm>
          <a:prstGeom prst="ellipse">
            <a:avLst/>
          </a:prstGeom>
          <a:solidFill>
            <a:srgbClr val="F27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24712" y="5522976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2B3138"/>
                </a:solidFill>
                <a:latin typeface="Open Sans"/>
              </a:rPr>
              <a:t>Notas fiscais não escrituradas ou escrituradas em conta indevida.</a:t>
            </a:r>
          </a:p>
        </p:txBody>
      </p:sp>
      <p:sp>
        <p:nvSpPr>
          <p:cNvPr id="32" name="Oval 31"/>
          <p:cNvSpPr/>
          <p:nvPr/>
        </p:nvSpPr>
        <p:spPr>
          <a:xfrm>
            <a:off x="6263640" y="4626864"/>
            <a:ext cx="109728" cy="109728"/>
          </a:xfrm>
          <a:prstGeom prst="ellipse">
            <a:avLst/>
          </a:prstGeom>
          <a:solidFill>
            <a:srgbClr val="F27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9672" y="457200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2B3138"/>
                </a:solidFill>
                <a:latin typeface="Open Sans"/>
              </a:rPr>
              <a:t>Adiantamentos de clientes/a fornecedores registrados no grupo errado.</a:t>
            </a:r>
          </a:p>
        </p:txBody>
      </p:sp>
      <p:sp>
        <p:nvSpPr>
          <p:cNvPr id="34" name="Oval 33"/>
          <p:cNvSpPr/>
          <p:nvPr/>
        </p:nvSpPr>
        <p:spPr>
          <a:xfrm>
            <a:off x="6263640" y="5102351"/>
            <a:ext cx="109728" cy="109728"/>
          </a:xfrm>
          <a:prstGeom prst="ellipse">
            <a:avLst/>
          </a:prstGeom>
          <a:solidFill>
            <a:srgbClr val="F27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9672" y="504748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2B3138"/>
                </a:solidFill>
                <a:latin typeface="Open Sans"/>
              </a:rPr>
              <a:t>Diferenças de conciliação bancária não tratadas.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5577840"/>
            <a:ext cx="109728" cy="109728"/>
          </a:xfrm>
          <a:prstGeom prst="ellipse">
            <a:avLst/>
          </a:prstGeom>
          <a:solidFill>
            <a:srgbClr val="F27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19672" y="5522976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2B3138"/>
                </a:solidFill>
                <a:latin typeface="Open Sans"/>
              </a:rPr>
              <a:t>Erros de classificação entre contas do mesmo grupo sintético.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6382512"/>
            <a:ext cx="11055096" cy="10972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6455664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747E"/>
                </a:solidFill>
                <a:latin typeface="Open Sans"/>
              </a:rPr>
              <a:t>Hipóteses apresentadas apenas como direcionadores da conciliação. Confirmação depende da análise documental.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97135" y="6455664"/>
            <a:ext cx="1627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0A3E0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0A3E0"/>
                </a:solidFill>
                <a:latin typeface="Open Sans"/>
              </a:rPr>
              <a:t>DIAGNÓSTICO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2B3138"/>
                </a:solidFill>
                <a:latin typeface="Roboto"/>
              </a:rPr>
              <a:t>Principais Pontos de Atenção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81328"/>
            <a:ext cx="1188720" cy="54864"/>
          </a:xfrm>
          <a:prstGeom prst="rect">
            <a:avLst/>
          </a:prstGeom>
          <a:solidFill>
            <a:srgbClr val="F27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DDE4EA"/>
                </a:solidFill>
                <a:latin typeface="Roboto"/>
              </a:rPr>
              <a:t>07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DE4EA"/>
                </a:solidFill>
                <a:latin typeface="Open Sans"/>
              </a:rPr>
              <a:t>/ 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39496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828800"/>
            <a:ext cx="109728" cy="1783080"/>
          </a:xfrm>
          <a:prstGeom prst="rect">
            <a:avLst/>
          </a:prstGeom>
          <a:solidFill>
            <a:srgbClr val="D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86968" y="2121408"/>
            <a:ext cx="502920" cy="502920"/>
          </a:xfrm>
          <a:prstGeom prst="ellipse">
            <a:avLst/>
          </a:prstGeom>
          <a:solidFill>
            <a:srgbClr val="D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139696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Roboto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084832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D13B3B"/>
                </a:solidFill>
                <a:latin typeface="Open Sans"/>
              </a:rPr>
              <a:t>PREJUÍZO NO PERÍODO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39572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2B3138"/>
                </a:solidFill>
                <a:latin typeface="Roboto"/>
              </a:rPr>
              <a:t>–R$ 357.139,26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2852928"/>
            <a:ext cx="4114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47E"/>
                </a:solidFill>
                <a:latin typeface="Open Sans"/>
              </a:rPr>
              <a:t>Resultado líquido negativo; estrutura de custos e despesas acima da receita.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7064" y="1828800"/>
            <a:ext cx="539496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27064" y="1828800"/>
            <a:ext cx="109728" cy="1783080"/>
          </a:xfrm>
          <a:prstGeom prst="rect">
            <a:avLst/>
          </a:prstGeom>
          <a:solidFill>
            <a:srgbClr val="F27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47104" y="2121408"/>
            <a:ext cx="502920" cy="502920"/>
          </a:xfrm>
          <a:prstGeom prst="ellipse">
            <a:avLst/>
          </a:prstGeom>
          <a:solidFill>
            <a:srgbClr val="F27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47104" y="2139696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Roboto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2904" y="2084832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27E1F"/>
                </a:solidFill>
                <a:latin typeface="Open Sans"/>
              </a:rPr>
              <a:t>CLIENTE COM SALDO INVERTIDO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2904" y="239572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2B3138"/>
                </a:solidFill>
                <a:latin typeface="Roboto"/>
              </a:rPr>
              <a:t>R$ 1.123.648,52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2852928"/>
            <a:ext cx="4114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47E"/>
                </a:solidFill>
                <a:latin typeface="Open Sans"/>
              </a:rPr>
              <a:t>Conta 140 (grupo) apresenta saldo credor — natureza contábil incompatível.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67912"/>
            <a:ext cx="539496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3867912"/>
            <a:ext cx="109728" cy="1783080"/>
          </a:xfrm>
          <a:prstGeom prst="rect">
            <a:avLst/>
          </a:prstGeom>
          <a:solidFill>
            <a:srgbClr val="F27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86968" y="4160520"/>
            <a:ext cx="502920" cy="502920"/>
          </a:xfrm>
          <a:prstGeom prst="ellipse">
            <a:avLst/>
          </a:prstGeom>
          <a:solidFill>
            <a:srgbClr val="F27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178808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Roboto"/>
              </a:rPr>
              <a:t>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72768" y="4123944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27E1F"/>
                </a:solidFill>
                <a:latin typeface="Open Sans"/>
              </a:rPr>
              <a:t>FORNECEDOR COM SALDO INVERTIDO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72768" y="44348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2B3138"/>
                </a:solidFill>
                <a:latin typeface="Roboto"/>
              </a:rPr>
              <a:t>R$ 441.904,06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72768" y="4892040"/>
            <a:ext cx="4114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47E"/>
                </a:solidFill>
                <a:latin typeface="Open Sans"/>
              </a:rPr>
              <a:t>Conta 1494 (grupo) apresenta saldo devedor — natureza contábil incompatível.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27064" y="3867912"/>
            <a:ext cx="539496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27064" y="3867912"/>
            <a:ext cx="109728" cy="1783080"/>
          </a:xfrm>
          <a:prstGeom prst="rect">
            <a:avLst/>
          </a:prstGeom>
          <a:solidFill>
            <a:srgbClr val="00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547104" y="4160520"/>
            <a:ext cx="502920" cy="502920"/>
          </a:xfrm>
          <a:prstGeom prst="ellipse">
            <a:avLst/>
          </a:prstGeom>
          <a:solidFill>
            <a:srgbClr val="00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47104" y="4178808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Roboto"/>
              </a:rPr>
              <a:t>!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32904" y="4123944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0A3E0"/>
                </a:solidFill>
                <a:latin typeface="Open Sans"/>
              </a:rPr>
              <a:t>CONCILIAÇÃO NECESSÁRIA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32904" y="44348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2B3138"/>
                </a:solidFill>
                <a:latin typeface="Roboto"/>
              </a:rPr>
              <a:t>Prioridade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32904" y="4892040"/>
            <a:ext cx="4114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47E"/>
                </a:solidFill>
                <a:latin typeface="Open Sans"/>
              </a:rPr>
              <a:t>Saldos exigem conciliação e reprocessamento antes de qualquer decisão gerencial.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6382512"/>
            <a:ext cx="11055096" cy="10972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6455664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747E"/>
                </a:solidFill>
                <a:latin typeface="Open Sans"/>
              </a:rPr>
              <a:t>Pontos de atenção descritos em linguagem técnica, sem juízo de irregularidade. Fonte: DRE e Balancete.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97135" y="6455664"/>
            <a:ext cx="1627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0A3E0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0A3E0"/>
                </a:solidFill>
                <a:latin typeface="Open Sans"/>
              </a:rPr>
              <a:t>RECOMENDAÇÃO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2B3138"/>
                </a:solidFill>
                <a:latin typeface="Roboto"/>
              </a:rPr>
              <a:t>Plano de Ação FELCONT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81328"/>
            <a:ext cx="1188720" cy="54864"/>
          </a:xfrm>
          <a:prstGeom prst="rect">
            <a:avLst/>
          </a:prstGeom>
          <a:solidFill>
            <a:srgbClr val="F27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DDE4EA"/>
                </a:solidFill>
                <a:latin typeface="Roboto"/>
              </a:rPr>
              <a:t>08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DE4EA"/>
                </a:solidFill>
                <a:latin typeface="Open Sans"/>
              </a:rPr>
              <a:t>/ 09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3246120"/>
            <a:ext cx="10561320" cy="27432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4617720"/>
            <a:ext cx="10561320" cy="27432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77340" y="3012948"/>
            <a:ext cx="493776" cy="493776"/>
          </a:xfrm>
          <a:prstGeom prst="ellipse">
            <a:avLst/>
          </a:prstGeom>
          <a:solidFill>
            <a:srgbClr val="00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77340" y="2999232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1783080"/>
            <a:ext cx="2514600" cy="1051560"/>
          </a:xfrm>
          <a:prstGeom prst="roundRect">
            <a:avLst>
              <a:gd name="adj" fmla="val 7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1783080"/>
            <a:ext cx="2514600" cy="64008"/>
          </a:xfrm>
          <a:prstGeom prst="rect">
            <a:avLst/>
          </a:prstGeom>
          <a:solidFill>
            <a:srgbClr val="00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1947672"/>
            <a:ext cx="21122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A3E0"/>
                </a:solidFill>
                <a:latin typeface="Open Sans"/>
              </a:rPr>
              <a:t>Levantar documentação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2295144"/>
            <a:ext cx="211226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2B3138"/>
                </a:solidFill>
                <a:latin typeface="Open Sans"/>
              </a:rPr>
              <a:t>Reunir NFs, extratos e títulos do período.</a:t>
            </a:r>
          </a:p>
        </p:txBody>
      </p:sp>
      <p:sp>
        <p:nvSpPr>
          <p:cNvPr id="16" name="Oval 15"/>
          <p:cNvSpPr/>
          <p:nvPr/>
        </p:nvSpPr>
        <p:spPr>
          <a:xfrm>
            <a:off x="4424172" y="3012948"/>
            <a:ext cx="493776" cy="493776"/>
          </a:xfrm>
          <a:prstGeom prst="ellipse">
            <a:avLst/>
          </a:prstGeom>
          <a:solidFill>
            <a:srgbClr val="00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24172" y="2999232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13760" y="1783080"/>
            <a:ext cx="2514600" cy="1051560"/>
          </a:xfrm>
          <a:prstGeom prst="roundRect">
            <a:avLst>
              <a:gd name="adj" fmla="val 7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13760" y="1783080"/>
            <a:ext cx="2514600" cy="64008"/>
          </a:xfrm>
          <a:prstGeom prst="rect">
            <a:avLst/>
          </a:prstGeom>
          <a:solidFill>
            <a:srgbClr val="00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4928" y="1947672"/>
            <a:ext cx="21122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A3E0"/>
                </a:solidFill>
                <a:latin typeface="Open Sans"/>
              </a:rPr>
              <a:t>Conciliar Clientes (140)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4928" y="2295144"/>
            <a:ext cx="211226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2B3138"/>
                </a:solidFill>
                <a:latin typeface="Open Sans"/>
              </a:rPr>
              <a:t>Cruzar títulos a receber com baixas e recebimentos.</a:t>
            </a:r>
          </a:p>
        </p:txBody>
      </p:sp>
      <p:sp>
        <p:nvSpPr>
          <p:cNvPr id="22" name="Oval 21"/>
          <p:cNvSpPr/>
          <p:nvPr/>
        </p:nvSpPr>
        <p:spPr>
          <a:xfrm>
            <a:off x="7271004" y="3012948"/>
            <a:ext cx="493776" cy="493776"/>
          </a:xfrm>
          <a:prstGeom prst="ellipse">
            <a:avLst/>
          </a:prstGeom>
          <a:solidFill>
            <a:srgbClr val="00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71004" y="2999232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0592" y="1783080"/>
            <a:ext cx="2514600" cy="1051560"/>
          </a:xfrm>
          <a:prstGeom prst="roundRect">
            <a:avLst>
              <a:gd name="adj" fmla="val 7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0592" y="1783080"/>
            <a:ext cx="2514600" cy="64008"/>
          </a:xfrm>
          <a:prstGeom prst="rect">
            <a:avLst/>
          </a:prstGeom>
          <a:solidFill>
            <a:srgbClr val="00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1760" y="1947672"/>
            <a:ext cx="21122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A3E0"/>
                </a:solidFill>
                <a:latin typeface="Open Sans"/>
              </a:rPr>
              <a:t>Conciliar Fornecedores (1494)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1760" y="2295144"/>
            <a:ext cx="211226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2B3138"/>
                </a:solidFill>
                <a:latin typeface="Open Sans"/>
              </a:rPr>
              <a:t>Cruzar títulos a pagar com baixas e pagamentos.</a:t>
            </a:r>
          </a:p>
        </p:txBody>
      </p:sp>
      <p:sp>
        <p:nvSpPr>
          <p:cNvPr id="28" name="Oval 27"/>
          <p:cNvSpPr/>
          <p:nvPr/>
        </p:nvSpPr>
        <p:spPr>
          <a:xfrm>
            <a:off x="10117836" y="3012948"/>
            <a:ext cx="493776" cy="493776"/>
          </a:xfrm>
          <a:prstGeom prst="ellipse">
            <a:avLst/>
          </a:prstGeom>
          <a:solidFill>
            <a:srgbClr val="00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17836" y="2999232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07424" y="1783080"/>
            <a:ext cx="2514600" cy="1051560"/>
          </a:xfrm>
          <a:prstGeom prst="roundRect">
            <a:avLst>
              <a:gd name="adj" fmla="val 7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07424" y="1783080"/>
            <a:ext cx="2514600" cy="64008"/>
          </a:xfrm>
          <a:prstGeom prst="rect">
            <a:avLst/>
          </a:prstGeom>
          <a:solidFill>
            <a:srgbClr val="00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08592" y="1947672"/>
            <a:ext cx="21122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A3E0"/>
                </a:solidFill>
                <a:latin typeface="Open Sans"/>
              </a:rPr>
              <a:t>Revisar lançamentos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08592" y="2295144"/>
            <a:ext cx="211226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2B3138"/>
                </a:solidFill>
                <a:latin typeface="Open Sans"/>
              </a:rPr>
              <a:t>Identificar baixas em duplicidade e classificações.</a:t>
            </a:r>
          </a:p>
        </p:txBody>
      </p:sp>
      <p:sp>
        <p:nvSpPr>
          <p:cNvPr id="34" name="Oval 33"/>
          <p:cNvSpPr/>
          <p:nvPr/>
        </p:nvSpPr>
        <p:spPr>
          <a:xfrm>
            <a:off x="1577340" y="4384548"/>
            <a:ext cx="493776" cy="493776"/>
          </a:xfrm>
          <a:prstGeom prst="ellipse">
            <a:avLst/>
          </a:prstGeom>
          <a:solidFill>
            <a:srgbClr val="00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77340" y="4370831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4892040"/>
            <a:ext cx="2514600" cy="1051560"/>
          </a:xfrm>
          <a:prstGeom prst="roundRect">
            <a:avLst>
              <a:gd name="adj" fmla="val 7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6928" y="4892040"/>
            <a:ext cx="2514600" cy="64008"/>
          </a:xfrm>
          <a:prstGeom prst="rect">
            <a:avLst/>
          </a:prstGeom>
          <a:solidFill>
            <a:srgbClr val="00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8096" y="5056631"/>
            <a:ext cx="21122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A3E0"/>
                </a:solidFill>
                <a:latin typeface="Open Sans"/>
              </a:rPr>
              <a:t>Conciliação bancária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" y="5404104"/>
            <a:ext cx="211226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2B3138"/>
                </a:solidFill>
                <a:latin typeface="Open Sans"/>
              </a:rPr>
              <a:t>Ajustar diferenças de caixa e bancos.</a:t>
            </a:r>
          </a:p>
        </p:txBody>
      </p:sp>
      <p:sp>
        <p:nvSpPr>
          <p:cNvPr id="40" name="Oval 39"/>
          <p:cNvSpPr/>
          <p:nvPr/>
        </p:nvSpPr>
        <p:spPr>
          <a:xfrm>
            <a:off x="4424172" y="4384548"/>
            <a:ext cx="493776" cy="493776"/>
          </a:xfrm>
          <a:prstGeom prst="ellipse">
            <a:avLst/>
          </a:prstGeom>
          <a:solidFill>
            <a:srgbClr val="00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24172" y="4370831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13760" y="4892040"/>
            <a:ext cx="2514600" cy="1051560"/>
          </a:xfrm>
          <a:prstGeom prst="roundRect">
            <a:avLst>
              <a:gd name="adj" fmla="val 7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413760" y="4892040"/>
            <a:ext cx="2514600" cy="64008"/>
          </a:xfrm>
          <a:prstGeom prst="rect">
            <a:avLst/>
          </a:prstGeom>
          <a:solidFill>
            <a:srgbClr val="00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14928" y="5056631"/>
            <a:ext cx="21122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A3E0"/>
                </a:solidFill>
                <a:latin typeface="Open Sans"/>
              </a:rPr>
              <a:t>Corrigir e ajustar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14928" y="5404104"/>
            <a:ext cx="211226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2B3138"/>
                </a:solidFill>
                <a:latin typeface="Open Sans"/>
              </a:rPr>
              <a:t>Efetuar os lançamentos de acerto necessários.</a:t>
            </a:r>
          </a:p>
        </p:txBody>
      </p:sp>
      <p:sp>
        <p:nvSpPr>
          <p:cNvPr id="46" name="Oval 45"/>
          <p:cNvSpPr/>
          <p:nvPr/>
        </p:nvSpPr>
        <p:spPr>
          <a:xfrm>
            <a:off x="7271004" y="4384548"/>
            <a:ext cx="493776" cy="493776"/>
          </a:xfrm>
          <a:prstGeom prst="ellipse">
            <a:avLst/>
          </a:prstGeom>
          <a:solidFill>
            <a:srgbClr val="00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71004" y="4370831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Roboto"/>
              </a:rPr>
              <a:t>7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60592" y="4892040"/>
            <a:ext cx="2514600" cy="1051560"/>
          </a:xfrm>
          <a:prstGeom prst="roundRect">
            <a:avLst>
              <a:gd name="adj" fmla="val 7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60592" y="4892040"/>
            <a:ext cx="2514600" cy="64008"/>
          </a:xfrm>
          <a:prstGeom prst="rect">
            <a:avLst/>
          </a:prstGeom>
          <a:solidFill>
            <a:srgbClr val="00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61760" y="5056631"/>
            <a:ext cx="21122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A3E0"/>
                </a:solidFill>
                <a:latin typeface="Open Sans"/>
              </a:rPr>
              <a:t>Reprocessar o resultado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61760" y="5404104"/>
            <a:ext cx="211226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2B3138"/>
                </a:solidFill>
                <a:latin typeface="Open Sans"/>
              </a:rPr>
              <a:t>Reapurar DRE após as correções.</a:t>
            </a:r>
          </a:p>
        </p:txBody>
      </p:sp>
      <p:sp>
        <p:nvSpPr>
          <p:cNvPr id="52" name="Oval 51"/>
          <p:cNvSpPr/>
          <p:nvPr/>
        </p:nvSpPr>
        <p:spPr>
          <a:xfrm>
            <a:off x="10117836" y="4384548"/>
            <a:ext cx="493776" cy="493776"/>
          </a:xfrm>
          <a:prstGeom prst="ellipse">
            <a:avLst/>
          </a:prstGeom>
          <a:solidFill>
            <a:srgbClr val="00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117836" y="4370831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Roboto"/>
              </a:rPr>
              <a:t>8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107424" y="4892040"/>
            <a:ext cx="2514600" cy="1051560"/>
          </a:xfrm>
          <a:prstGeom prst="roundRect">
            <a:avLst>
              <a:gd name="adj" fmla="val 7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107424" y="4892040"/>
            <a:ext cx="2514600" cy="64008"/>
          </a:xfrm>
          <a:prstGeom prst="rect">
            <a:avLst/>
          </a:prstGeom>
          <a:solidFill>
            <a:srgbClr val="00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08592" y="5056631"/>
            <a:ext cx="21122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A3E0"/>
                </a:solidFill>
                <a:latin typeface="Open Sans"/>
              </a:rPr>
              <a:t>Validar e reportar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08592" y="5404104"/>
            <a:ext cx="211226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2B3138"/>
                </a:solidFill>
                <a:latin typeface="Open Sans"/>
              </a:rPr>
              <a:t>Confirmar saldos e emitir relatório gerencial.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66928" y="6172200"/>
            <a:ext cx="11055096" cy="457200"/>
          </a:xfrm>
          <a:prstGeom prst="roundRect">
            <a:avLst>
              <a:gd name="adj" fmla="val 40000"/>
            </a:avLst>
          </a:prstGeom>
          <a:solidFill>
            <a:srgbClr val="00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6928" y="6172200"/>
            <a:ext cx="1105509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FEFFB"/>
                </a:solidFill>
                <a:latin typeface="Open Sans"/>
              </a:rPr>
              <a:t>Mensagem-chave:  </a:t>
            </a:r>
            <a:r>
              <a:rPr sz="1200" b="0">
                <a:solidFill>
                  <a:srgbClr val="FFFFFF"/>
                </a:solidFill>
                <a:latin typeface="Open Sans"/>
              </a:rPr>
              <a:t>o resultado só deve ser lido para decisão APÓS a conciliação e o reprocessamento.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0A3E0"/>
                </a:solidFill>
                <a:latin typeface="Roboto"/>
              </a:rPr>
              <a:t>FEL</a:t>
            </a:r>
            <a:r>
              <a:rPr sz="2600" b="1">
                <a:solidFill>
                  <a:srgbClr val="FFFFFF"/>
                </a:solidFill>
                <a:latin typeface="Roboto"/>
              </a:rPr>
              <a:t>CONT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Open Sans"/>
              </a:rPr>
              <a:t>CONTABILIDADE  ·  FINANÇAS  ·  AUDITORIA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0A3E0"/>
                </a:solidFill>
                <a:latin typeface="Open Sans"/>
              </a:rPr>
              <a:t>CONCLUSÃO / PRÓXIMOS PASSOS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Roboto"/>
              </a:rPr>
              <a:t>Do diagnóstico à decisão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291840"/>
            <a:ext cx="2514600" cy="1234440"/>
          </a:xfrm>
          <a:prstGeom prst="roundRect">
            <a:avLst>
              <a:gd name="adj" fmla="val 6000"/>
            </a:avLst>
          </a:prstGeom>
          <a:solidFill>
            <a:srgbClr val="0F3044"/>
          </a:solidFill>
          <a:ln w="12700">
            <a:solidFill>
              <a:srgbClr val="00A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47872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A3E0"/>
                </a:solidFill>
                <a:latin typeface="Roboto"/>
              </a:rPr>
              <a:t>CONCILIAR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05072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Open Sans"/>
              </a:rPr>
              <a:t>Cruzar documentos e saldos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18688" y="3794760"/>
            <a:ext cx="292608" cy="256032"/>
          </a:xfrm>
          <a:prstGeom prst="rightArrow">
            <a:avLst/>
          </a:prstGeom>
          <a:solidFill>
            <a:srgbClr val="F27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20440" y="3291840"/>
            <a:ext cx="2514600" cy="1234440"/>
          </a:xfrm>
          <a:prstGeom prst="roundRect">
            <a:avLst>
              <a:gd name="adj" fmla="val 6000"/>
            </a:avLst>
          </a:prstGeom>
          <a:solidFill>
            <a:srgbClr val="0F3044"/>
          </a:solidFill>
          <a:ln w="12700">
            <a:solidFill>
              <a:srgbClr val="00A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3547872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A3E0"/>
                </a:solidFill>
                <a:latin typeface="Roboto"/>
              </a:rPr>
              <a:t>CORRIGIR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4005072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Open Sans"/>
              </a:rPr>
              <a:t>Ajustar lançamentos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53327" y="3794760"/>
            <a:ext cx="292608" cy="256032"/>
          </a:xfrm>
          <a:prstGeom prst="rightArrow">
            <a:avLst/>
          </a:prstGeom>
          <a:solidFill>
            <a:srgbClr val="F27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55080" y="3291840"/>
            <a:ext cx="2514600" cy="1234440"/>
          </a:xfrm>
          <a:prstGeom prst="roundRect">
            <a:avLst>
              <a:gd name="adj" fmla="val 6000"/>
            </a:avLst>
          </a:prstGeom>
          <a:solidFill>
            <a:srgbClr val="0F3044"/>
          </a:solidFill>
          <a:ln w="12700">
            <a:solidFill>
              <a:srgbClr val="00A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547872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A3E0"/>
                </a:solidFill>
                <a:latin typeface="Roboto"/>
              </a:rPr>
              <a:t>VALIDAR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005072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Open Sans"/>
              </a:rPr>
              <a:t>Reprocessar e conferir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887967" y="3794760"/>
            <a:ext cx="292608" cy="256032"/>
          </a:xfrm>
          <a:prstGeom prst="rightArrow">
            <a:avLst/>
          </a:prstGeom>
          <a:solidFill>
            <a:srgbClr val="F27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89720" y="3291840"/>
            <a:ext cx="2514600" cy="1234440"/>
          </a:xfrm>
          <a:prstGeom prst="roundRect">
            <a:avLst>
              <a:gd name="adj" fmla="val 6000"/>
            </a:avLst>
          </a:prstGeom>
          <a:solidFill>
            <a:srgbClr val="0F3044"/>
          </a:solidFill>
          <a:ln w="12700">
            <a:solidFill>
              <a:srgbClr val="00A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3547872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A3E0"/>
                </a:solidFill>
                <a:latin typeface="Roboto"/>
              </a:rPr>
              <a:t>ANALISAR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4005072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Open Sans"/>
              </a:rPr>
              <a:t>Decidir com dados confiáveis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5074920"/>
            <a:ext cx="1371600" cy="54864"/>
          </a:xfrm>
          <a:prstGeom prst="rect">
            <a:avLst/>
          </a:prstGeom>
          <a:solidFill>
            <a:srgbClr val="F27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3035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Roboto"/>
              </a:rPr>
              <a:t>“Informação contábil transformada em decisão.”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989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0A3E0"/>
                </a:solidFill>
                <a:latin typeface="Open Sans"/>
              </a:rPr>
              <a:t>FELCONT — Contabilidade, Finanças e Auditoria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47E"/>
                </a:solidFill>
                <a:latin typeface="Open Sans"/>
              </a:rPr>
              <a:t>Análise gerencial · Cliente: Ronaldo Donadon · Período Jan–Jul/2026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